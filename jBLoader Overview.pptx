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7"/>
  </p:notesMasterIdLst>
  <p:handoutMasterIdLst>
    <p:handoutMasterId r:id="rId38"/>
  </p:handoutMasterIdLst>
  <p:sldIdLst>
    <p:sldId id="256" r:id="rId5"/>
    <p:sldId id="277" r:id="rId6"/>
    <p:sldId id="295" r:id="rId7"/>
    <p:sldId id="258" r:id="rId8"/>
    <p:sldId id="296" r:id="rId9"/>
    <p:sldId id="297" r:id="rId10"/>
    <p:sldId id="298" r:id="rId11"/>
    <p:sldId id="299" r:id="rId12"/>
    <p:sldId id="300" r:id="rId13"/>
    <p:sldId id="301" r:id="rId14"/>
    <p:sldId id="302" r:id="rId15"/>
    <p:sldId id="303" r:id="rId16"/>
    <p:sldId id="307" r:id="rId17"/>
    <p:sldId id="310" r:id="rId18"/>
    <p:sldId id="309" r:id="rId19"/>
    <p:sldId id="305" r:id="rId20"/>
    <p:sldId id="311" r:id="rId21"/>
    <p:sldId id="312" r:id="rId22"/>
    <p:sldId id="306" r:id="rId23"/>
    <p:sldId id="313" r:id="rId24"/>
    <p:sldId id="314" r:id="rId25"/>
    <p:sldId id="316" r:id="rId26"/>
    <p:sldId id="315" r:id="rId27"/>
    <p:sldId id="317" r:id="rId28"/>
    <p:sldId id="318" r:id="rId29"/>
    <p:sldId id="273" r:id="rId30"/>
    <p:sldId id="324" r:id="rId31"/>
    <p:sldId id="325" r:id="rId32"/>
    <p:sldId id="320" r:id="rId33"/>
    <p:sldId id="326" r:id="rId34"/>
    <p:sldId id="330" r:id="rId35"/>
    <p:sldId id="27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5989" autoAdjust="0"/>
  </p:normalViewPr>
  <p:slideViewPr>
    <p:cSldViewPr snapToGrid="0">
      <p:cViewPr varScale="1">
        <p:scale>
          <a:sx n="75" d="100"/>
          <a:sy n="75" d="100"/>
        </p:scale>
        <p:origin x="58" y="20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4/27/2026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4/27/2026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
        <p:nvSpPr>
          <p:cNvPr id="8" name="TextBox 7">
            <a:extLst>
              <a:ext uri="{FF2B5EF4-FFF2-40B4-BE49-F238E27FC236}">
                <a16:creationId xmlns:a16="http://schemas.microsoft.com/office/drawing/2014/main" id="{6D704662-B5A1-0154-F00B-31377952A1FF}"/>
              </a:ext>
            </a:extLst>
          </p:cNvPr>
          <p:cNvSpPr txBox="1"/>
          <p:nvPr userDrawn="1">
            <p:extLst>
              <p:ext uri="{1162E1C5-73C7-4A58-AE30-91384D911F3F}">
                <p184:classification xmlns:p184="http://schemas.microsoft.com/office/powerpoint/2018/4/main" val="ftr"/>
              </p:ext>
            </p:extLst>
          </p:nvPr>
        </p:nvSpPr>
        <p:spPr>
          <a:xfrm>
            <a:off x="5263325" y="6642100"/>
            <a:ext cx="1690687"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Ejada Internal Use Information</a:t>
            </a:r>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b="1" dirty="0" err="1"/>
              <a:t>jBLoader</a:t>
            </a:r>
            <a:r>
              <a:rPr lang="en-US" b="1" dirty="0"/>
              <a:t> Overview</a:t>
            </a:r>
            <a:endParaRPr lang="en-US" dirty="0"/>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a:lstStyle/>
          <a:p>
            <a:endParaRPr lang="en-US"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409042" y="1046320"/>
            <a:ext cx="3819229" cy="1325563"/>
          </a:xfrm>
        </p:spPr>
        <p:txBody>
          <a:bodyPr/>
          <a:lstStyle/>
          <a:p>
            <a:r>
              <a:rPr lang="en-US" dirty="0"/>
              <a:t>What Is </a:t>
            </a:r>
            <a:r>
              <a:rPr lang="en-US" dirty="0" err="1"/>
              <a:t>jBLoader</a:t>
            </a:r>
            <a:r>
              <a:rPr lang="en-US" dirty="0"/>
              <a: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358139" y="2629535"/>
            <a:ext cx="5595621" cy="3375025"/>
          </a:xfrm>
        </p:spPr>
        <p:txBody>
          <a:bodyPr>
            <a:noAutofit/>
          </a:bodyPr>
          <a:lstStyle/>
          <a:p>
            <a:pPr marL="285750" indent="-285750">
              <a:buFont typeface="Arial" panose="020B0604020202020204" pitchFamily="34" charset="0"/>
              <a:buChar char="•"/>
            </a:pPr>
            <a:r>
              <a:rPr lang="en-US" dirty="0"/>
              <a:t>A data loading / ETL tool used to transfer data between systems.</a:t>
            </a:r>
          </a:p>
          <a:p>
            <a:pPr marL="285750" indent="-285750">
              <a:buFont typeface="Arial" panose="020B0604020202020204" pitchFamily="34" charset="0"/>
              <a:buChar char="•"/>
            </a:pPr>
            <a:r>
              <a:rPr lang="en-US" dirty="0"/>
              <a:t>specifically designed to extract data from </a:t>
            </a:r>
            <a:r>
              <a:rPr lang="en-US" b="1" dirty="0"/>
              <a:t>T24 core banking databases</a:t>
            </a:r>
            <a:r>
              <a:rPr lang="en-US" dirty="0"/>
              <a:t> (Temenos) and load it into various relational databases</a:t>
            </a:r>
          </a:p>
          <a:p>
            <a:pPr marL="285750" indent="-285750">
              <a:buFont typeface="Arial" panose="020B0604020202020204" pitchFamily="34" charset="0"/>
              <a:buChar char="•"/>
            </a:pPr>
            <a:r>
              <a:rPr lang="en-US" dirty="0" err="1"/>
              <a:t>JBLoader</a:t>
            </a:r>
            <a:r>
              <a:rPr lang="en-US" dirty="0"/>
              <a:t> is a powerful, automated data extraction tool that acts as a bridge between the Transact database and your bank’s reporting and analytics tools. </a:t>
            </a:r>
          </a:p>
          <a:p>
            <a:pPr marL="285750" indent="-285750">
              <a:buFont typeface="Arial" panose="020B0604020202020204" pitchFamily="34" charset="0"/>
              <a:buChar char="•"/>
            </a:pPr>
            <a:r>
              <a:rPr lang="en-US" dirty="0"/>
              <a:t>It supports various data formats such as CSV, XML, and JSON, making it adaptable to your institution’s data processing requirements. </a:t>
            </a:r>
          </a:p>
          <a:p>
            <a:pPr marL="285750" indent="-285750">
              <a:buFont typeface="Arial" panose="020B0604020202020204" pitchFamily="34" charset="0"/>
              <a:buChar char="•"/>
            </a:pPr>
            <a:r>
              <a:rPr lang="en-US" dirty="0" err="1"/>
              <a:t>JBLoader's</a:t>
            </a:r>
            <a:r>
              <a:rPr lang="en-US" dirty="0"/>
              <a:t> remarkable ability to extract and normalize millions of records quickly, without burdening the source database, sets it apart as an industry-leading solution.</a:t>
            </a:r>
          </a:p>
          <a:p>
            <a:endParaRPr lang="en-US" noProof="1"/>
          </a:p>
          <a:p>
            <a:endParaRPr lang="en-US" dirty="0"/>
          </a:p>
          <a:p>
            <a:endParaRPr lang="en-US" dirty="0"/>
          </a:p>
        </p:txBody>
      </p:sp>
      <p:sp>
        <p:nvSpPr>
          <p:cNvPr id="6" name="Date Placeholder 5">
            <a:extLst>
              <a:ext uri="{FF2B5EF4-FFF2-40B4-BE49-F238E27FC236}">
                <a16:creationId xmlns:a16="http://schemas.microsoft.com/office/drawing/2014/main" id="{B69DF042-37C5-4E09-AA4C-AA66649C9533}"/>
              </a:ext>
            </a:extLst>
          </p:cNvPr>
          <p:cNvSpPr>
            <a:spLocks noGrp="1"/>
          </p:cNvSpPr>
          <p:nvPr>
            <p:ph type="dt" sz="half" idx="10"/>
          </p:nvPr>
        </p:nvSpPr>
        <p:spPr>
          <a:xfrm>
            <a:off x="1333500" y="6356350"/>
            <a:ext cx="985157" cy="365125"/>
          </a:xfrm>
        </p:spPr>
        <p:txBody>
          <a:bodyPr/>
          <a:lstStyle/>
          <a:p>
            <a:r>
              <a:rPr lang="en-US" dirty="0"/>
              <a:t>20XX</a:t>
            </a:r>
          </a:p>
        </p:txBody>
      </p:sp>
      <p:sp>
        <p:nvSpPr>
          <p:cNvPr id="5" name="Footer Placeholder 4">
            <a:extLst>
              <a:ext uri="{FF2B5EF4-FFF2-40B4-BE49-F238E27FC236}">
                <a16:creationId xmlns:a16="http://schemas.microsoft.com/office/drawing/2014/main" id="{AF29EA23-F34E-486A-B8B2-0C3019266975}"/>
              </a:ext>
            </a:extLst>
          </p:cNvPr>
          <p:cNvSpPr>
            <a:spLocks noGrp="1"/>
          </p:cNvSpPr>
          <p:nvPr>
            <p:ph type="ftr" sz="quarter" idx="11"/>
          </p:nvPr>
        </p:nvSpPr>
        <p:spPr>
          <a:xfrm>
            <a:off x="2669886" y="6356349"/>
            <a:ext cx="2482842"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1A2F3-52B5-2394-79EE-4BF3FBFFA836}"/>
              </a:ext>
            </a:extLst>
          </p:cNvPr>
          <p:cNvSpPr>
            <a:spLocks noGrp="1"/>
          </p:cNvSpPr>
          <p:nvPr>
            <p:ph type="title"/>
          </p:nvPr>
        </p:nvSpPr>
        <p:spPr>
          <a:xfrm>
            <a:off x="838200" y="365125"/>
            <a:ext cx="10515600" cy="1325563"/>
          </a:xfrm>
        </p:spPr>
        <p:txBody>
          <a:bodyPr anchor="ctr">
            <a:normAutofit/>
          </a:bodyPr>
          <a:lstStyle/>
          <a:p>
            <a:r>
              <a:rPr lang="en-US" b="1" dirty="0"/>
              <a:t>What data is inside T24 database?</a:t>
            </a:r>
            <a:endParaRPr lang="en-US" dirty="0"/>
          </a:p>
        </p:txBody>
      </p:sp>
      <p:sp>
        <p:nvSpPr>
          <p:cNvPr id="4" name="Date Placeholder 3">
            <a:extLst>
              <a:ext uri="{FF2B5EF4-FFF2-40B4-BE49-F238E27FC236}">
                <a16:creationId xmlns:a16="http://schemas.microsoft.com/office/drawing/2014/main" id="{76F04A1C-80EA-DCC9-BBC6-7E2B51BF7AA6}"/>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5" name="Footer Placeholder 4">
            <a:extLst>
              <a:ext uri="{FF2B5EF4-FFF2-40B4-BE49-F238E27FC236}">
                <a16:creationId xmlns:a16="http://schemas.microsoft.com/office/drawing/2014/main" id="{46180D85-4C0F-D727-8088-08E97F569CF6}"/>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6" name="Slide Number Placeholder 5">
            <a:extLst>
              <a:ext uri="{FF2B5EF4-FFF2-40B4-BE49-F238E27FC236}">
                <a16:creationId xmlns:a16="http://schemas.microsoft.com/office/drawing/2014/main" id="{3BEACCDB-8681-D481-B726-EEC595EC298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3</a:t>
            </a:fld>
            <a:endParaRPr lang="en-US"/>
          </a:p>
        </p:txBody>
      </p:sp>
      <p:sp>
        <p:nvSpPr>
          <p:cNvPr id="3" name="Content Placeholder 2">
            <a:extLst>
              <a:ext uri="{FF2B5EF4-FFF2-40B4-BE49-F238E27FC236}">
                <a16:creationId xmlns:a16="http://schemas.microsoft.com/office/drawing/2014/main" id="{2A25D5C4-D9EF-CDAA-ED9E-19E3299EBDDE}"/>
              </a:ext>
            </a:extLst>
          </p:cNvPr>
          <p:cNvSpPr>
            <a:spLocks noGrp="1"/>
          </p:cNvSpPr>
          <p:nvPr>
            <p:ph sz="quarter" idx="16"/>
          </p:nvPr>
        </p:nvSpPr>
        <p:spPr>
          <a:xfrm>
            <a:off x="838199" y="2136775"/>
            <a:ext cx="10815321" cy="3623945"/>
          </a:xfrm>
        </p:spPr>
        <p:txBody>
          <a:bodyPr>
            <a:normAutofit fontScale="92500" lnSpcReduction="10000"/>
          </a:bodyPr>
          <a:lstStyle/>
          <a:p>
            <a:r>
              <a:rPr lang="en-US" b="1" dirty="0">
                <a:solidFill>
                  <a:schemeClr val="tx1"/>
                </a:solidFill>
              </a:rPr>
              <a:t>T24</a:t>
            </a:r>
            <a:r>
              <a:rPr lang="en-US" dirty="0">
                <a:solidFill>
                  <a:schemeClr val="tx1"/>
                </a:solidFill>
              </a:rPr>
              <a:t>, is a leading, comprehensive, and modular core banking system used by financial institutions worldwide to manage </a:t>
            </a:r>
            <a:r>
              <a:rPr lang="en-US" b="1" dirty="0">
                <a:solidFill>
                  <a:schemeClr val="tx1"/>
                </a:solidFill>
              </a:rPr>
              <a:t>front- to back-office operations</a:t>
            </a:r>
            <a:r>
              <a:rPr lang="en-US" dirty="0">
                <a:solidFill>
                  <a:schemeClr val="tx1"/>
                </a:solidFill>
              </a:rPr>
              <a:t>. It provides real-time processing for services such as retail banking, lending, treasury, and payments. Synonyms include Temenos Transact, T24 Core Banking, and formerly, Globus</a:t>
            </a:r>
          </a:p>
          <a:p>
            <a:pPr marL="0" lvl="0" indent="0" eaLnBrk="0" fontAlgn="base" hangingPunct="0">
              <a:lnSpc>
                <a:spcPct val="100000"/>
              </a:lnSpc>
              <a:spcBef>
                <a:spcPct val="0"/>
              </a:spcBef>
              <a:spcAft>
                <a:spcPct val="0"/>
              </a:spcAft>
              <a:buNone/>
            </a:pPr>
            <a:r>
              <a:rPr lang="en-US" altLang="en-US" sz="2400" b="1" dirty="0">
                <a:solidFill>
                  <a:schemeClr val="tx1"/>
                </a:solidFill>
                <a:latin typeface="Google Sans"/>
              </a:rPr>
              <a:t>Examples and Functions of T24:</a:t>
            </a:r>
            <a:endParaRPr lang="en-US" altLang="en-US" sz="1200" dirty="0">
              <a:solidFill>
                <a:schemeClr val="tx1"/>
              </a:solidFill>
            </a:endParaRPr>
          </a:p>
          <a:p>
            <a:pPr marL="457200" lvl="1" indent="0" eaLnBrk="0" fontAlgn="base" hangingPunct="0">
              <a:lnSpc>
                <a:spcPct val="100000"/>
              </a:lnSpc>
              <a:spcBef>
                <a:spcPct val="0"/>
              </a:spcBef>
              <a:spcAft>
                <a:spcPct val="0"/>
              </a:spcAft>
              <a:buFontTx/>
              <a:buChar char="•"/>
            </a:pPr>
            <a:r>
              <a:rPr lang="en-US" altLang="en-US" sz="2000" b="1" dirty="0">
                <a:solidFill>
                  <a:schemeClr val="tx1"/>
                </a:solidFill>
                <a:latin typeface="Google Sans"/>
              </a:rPr>
              <a:t>Core Banking Operations:</a:t>
            </a:r>
            <a:r>
              <a:rPr lang="en-US" altLang="en-US" sz="2000" dirty="0">
                <a:solidFill>
                  <a:schemeClr val="tx1"/>
                </a:solidFill>
                <a:latin typeface="Google Sans"/>
              </a:rPr>
              <a:t> Managing deposit accounts, loans, and customer records.</a:t>
            </a:r>
          </a:p>
          <a:p>
            <a:pPr marL="457200" lvl="1" indent="0" eaLnBrk="0" fontAlgn="base" hangingPunct="0">
              <a:lnSpc>
                <a:spcPct val="100000"/>
              </a:lnSpc>
              <a:spcBef>
                <a:spcPct val="0"/>
              </a:spcBef>
              <a:spcAft>
                <a:spcPct val="0"/>
              </a:spcAft>
              <a:buFontTx/>
              <a:buChar char="•"/>
            </a:pPr>
            <a:r>
              <a:rPr lang="en-US" altLang="en-US" sz="2000" b="1" dirty="0">
                <a:solidFill>
                  <a:schemeClr val="tx1"/>
                </a:solidFill>
                <a:latin typeface="Google Sans"/>
              </a:rPr>
              <a:t>Real-time Transactions:</a:t>
            </a:r>
            <a:r>
              <a:rPr lang="en-US" altLang="en-US" sz="2000" dirty="0">
                <a:solidFill>
                  <a:schemeClr val="tx1"/>
                </a:solidFill>
                <a:latin typeface="Google Sans"/>
              </a:rPr>
              <a:t> Processing payments, funds transfers, and currency exchanges instantly.</a:t>
            </a:r>
          </a:p>
          <a:p>
            <a:pPr marL="457200" lvl="1" indent="0" eaLnBrk="0" fontAlgn="base" hangingPunct="0">
              <a:lnSpc>
                <a:spcPct val="100000"/>
              </a:lnSpc>
              <a:spcBef>
                <a:spcPct val="0"/>
              </a:spcBef>
              <a:spcAft>
                <a:spcPct val="0"/>
              </a:spcAft>
              <a:buFontTx/>
              <a:buChar char="•"/>
            </a:pPr>
            <a:r>
              <a:rPr lang="en-US" altLang="en-US" sz="2000" b="1" dirty="0">
                <a:solidFill>
                  <a:schemeClr val="tx1"/>
                </a:solidFill>
                <a:latin typeface="Google Sans"/>
              </a:rPr>
              <a:t>Customization:</a:t>
            </a:r>
            <a:r>
              <a:rPr lang="en-US" altLang="en-US" sz="2000" dirty="0">
                <a:solidFill>
                  <a:schemeClr val="tx1"/>
                </a:solidFill>
                <a:latin typeface="Google Sans"/>
              </a:rPr>
              <a:t> Implementing tailored modules for specific needs like </a:t>
            </a:r>
            <a:r>
              <a:rPr lang="en-US" altLang="en-US" sz="2000" u="sng" dirty="0">
                <a:solidFill>
                  <a:schemeClr val="tx1"/>
                </a:solidFill>
                <a:latin typeface="Google Sans"/>
              </a:rPr>
              <a:t>Islamic banking, trade finance, or wealth management.</a:t>
            </a:r>
          </a:p>
          <a:p>
            <a:pPr marL="457200" lvl="1" indent="0" eaLnBrk="0" fontAlgn="base" hangingPunct="0">
              <a:lnSpc>
                <a:spcPct val="100000"/>
              </a:lnSpc>
              <a:spcBef>
                <a:spcPct val="0"/>
              </a:spcBef>
              <a:spcAft>
                <a:spcPct val="0"/>
              </a:spcAft>
              <a:buFontTx/>
              <a:buChar char="•"/>
            </a:pPr>
            <a:r>
              <a:rPr lang="en-US" altLang="en-US" sz="2000" b="1" dirty="0">
                <a:solidFill>
                  <a:schemeClr val="tx1"/>
                </a:solidFill>
                <a:latin typeface="Google Sans"/>
              </a:rPr>
              <a:t>Digital Integration:</a:t>
            </a:r>
            <a:r>
              <a:rPr lang="en-US" altLang="en-US" sz="2000" dirty="0">
                <a:solidFill>
                  <a:schemeClr val="tx1"/>
                </a:solidFill>
                <a:latin typeface="Google Sans"/>
              </a:rPr>
              <a:t> Using open APIs to connect with mobile apps and third-party fintech solutions.</a:t>
            </a:r>
          </a:p>
          <a:p>
            <a:pPr marL="457200" lvl="1" indent="0" eaLnBrk="0" fontAlgn="base" hangingPunct="0">
              <a:lnSpc>
                <a:spcPct val="100000"/>
              </a:lnSpc>
              <a:spcBef>
                <a:spcPct val="0"/>
              </a:spcBef>
              <a:spcAft>
                <a:spcPct val="0"/>
              </a:spcAft>
              <a:buFontTx/>
              <a:buChar char="•"/>
            </a:pPr>
            <a:r>
              <a:rPr lang="en-US" altLang="en-US" sz="2000" b="1" dirty="0">
                <a:solidFill>
                  <a:schemeClr val="tx1"/>
                </a:solidFill>
                <a:latin typeface="Google Sans"/>
              </a:rPr>
              <a:t>Compliance and Risk:</a:t>
            </a:r>
            <a:r>
              <a:rPr lang="en-US" altLang="en-US" sz="2000" dirty="0">
                <a:solidFill>
                  <a:schemeClr val="tx1"/>
                </a:solidFill>
                <a:latin typeface="Google Sans"/>
              </a:rPr>
              <a:t> Enabling </a:t>
            </a:r>
            <a:r>
              <a:rPr lang="en-US" altLang="en-US" sz="2000" u="sng" dirty="0">
                <a:solidFill>
                  <a:schemeClr val="tx1"/>
                </a:solidFill>
                <a:latin typeface="Google Sans"/>
              </a:rPr>
              <a:t>KYC</a:t>
            </a:r>
            <a:r>
              <a:rPr lang="en-US" altLang="en-US" sz="2000" dirty="0">
                <a:solidFill>
                  <a:schemeClr val="tx1"/>
                </a:solidFill>
                <a:latin typeface="Google Sans"/>
              </a:rPr>
              <a:t> (Know Your Customer) and </a:t>
            </a:r>
            <a:r>
              <a:rPr lang="en-US" altLang="en-US" sz="2000" u="sng" dirty="0">
                <a:solidFill>
                  <a:schemeClr val="tx1"/>
                </a:solidFill>
                <a:latin typeface="Google Sans"/>
              </a:rPr>
              <a:t>AML</a:t>
            </a:r>
            <a:r>
              <a:rPr lang="en-US" altLang="en-US" sz="2000" dirty="0">
                <a:solidFill>
                  <a:schemeClr val="tx1"/>
                </a:solidFill>
                <a:latin typeface="Google Sans"/>
              </a:rPr>
              <a:t> (Anti-Money Laundering) checks.</a:t>
            </a:r>
            <a:endParaRPr lang="en-US" sz="2400" dirty="0">
              <a:solidFill>
                <a:schemeClr val="tx1"/>
              </a:solidFill>
            </a:endParaRPr>
          </a:p>
        </p:txBody>
      </p:sp>
    </p:spTree>
    <p:extLst>
      <p:ext uri="{BB962C8B-B14F-4D97-AF65-F5344CB8AC3E}">
        <p14:creationId xmlns:p14="http://schemas.microsoft.com/office/powerpoint/2010/main" val="1422195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886408"/>
            <a:ext cx="4179570" cy="1715531"/>
          </a:xfrm>
        </p:spPr>
        <p:txBody>
          <a:bodyPr/>
          <a:lstStyle/>
          <a:p>
            <a:r>
              <a:rPr lang="en-US" dirty="0"/>
              <a:t>COMPANY OVERVIEW</a:t>
            </a:r>
          </a:p>
        </p:txBody>
      </p:sp>
      <p:pic>
        <p:nvPicPr>
          <p:cNvPr id="5" name="Picture 4" descr="Advantage 2">
            <a:extLst>
              <a:ext uri="{FF2B5EF4-FFF2-40B4-BE49-F238E27FC236}">
                <a16:creationId xmlns:a16="http://schemas.microsoft.com/office/drawing/2014/main" id="{719714D1-EB80-210F-9D10-D5418F7E8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8543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Advantage 3">
            <a:extLst>
              <a:ext uri="{FF2B5EF4-FFF2-40B4-BE49-F238E27FC236}">
                <a16:creationId xmlns:a16="http://schemas.microsoft.com/office/drawing/2014/main" id="{5188ACCA-A0CB-4273-0EEC-3081300914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66471"/>
            <a:ext cx="12192000" cy="16732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Advantage 4">
            <a:extLst>
              <a:ext uri="{FF2B5EF4-FFF2-40B4-BE49-F238E27FC236}">
                <a16:creationId xmlns:a16="http://schemas.microsoft.com/office/drawing/2014/main" id="{2DEBA7DC-5904-E55A-5AB1-4D0DEB187B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951819"/>
            <a:ext cx="12192000" cy="16501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Advantage 5">
            <a:extLst>
              <a:ext uri="{FF2B5EF4-FFF2-40B4-BE49-F238E27FC236}">
                <a16:creationId xmlns:a16="http://schemas.microsoft.com/office/drawing/2014/main" id="{DCFECD72-A686-733F-33B7-5CE5FC85E6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209869"/>
            <a:ext cx="12192000" cy="139697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2" descr="Advantage 6">
            <a:extLst>
              <a:ext uri="{FF2B5EF4-FFF2-40B4-BE49-F238E27FC236}">
                <a16:creationId xmlns:a16="http://schemas.microsoft.com/office/drawing/2014/main" id="{A1644EE7-CF18-4CD0-AEC2-9A2600C0AA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384243"/>
            <a:ext cx="12192000" cy="1473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789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B8E7F-2117-BE84-B1F7-AAF276A08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751F2-C9AF-8F67-7051-E39BE7CF0E79}"/>
              </a:ext>
            </a:extLst>
          </p:cNvPr>
          <p:cNvSpPr>
            <a:spLocks noGrp="1"/>
          </p:cNvSpPr>
          <p:nvPr>
            <p:ph type="title"/>
          </p:nvPr>
        </p:nvSpPr>
        <p:spPr>
          <a:xfrm>
            <a:off x="838200" y="365125"/>
            <a:ext cx="10515600" cy="1325563"/>
          </a:xfrm>
        </p:spPr>
        <p:txBody>
          <a:bodyPr anchor="ctr">
            <a:normAutofit/>
          </a:bodyPr>
          <a:lstStyle/>
          <a:p>
            <a:r>
              <a:rPr lang="en-US" dirty="0"/>
              <a:t>What is happening through an extraction process </a:t>
            </a:r>
          </a:p>
        </p:txBody>
      </p:sp>
      <p:sp>
        <p:nvSpPr>
          <p:cNvPr id="4" name="Date Placeholder 3">
            <a:extLst>
              <a:ext uri="{FF2B5EF4-FFF2-40B4-BE49-F238E27FC236}">
                <a16:creationId xmlns:a16="http://schemas.microsoft.com/office/drawing/2014/main" id="{9F43BC58-233C-22D2-71EB-981601251368}"/>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5" name="Footer Placeholder 4">
            <a:extLst>
              <a:ext uri="{FF2B5EF4-FFF2-40B4-BE49-F238E27FC236}">
                <a16:creationId xmlns:a16="http://schemas.microsoft.com/office/drawing/2014/main" id="{DC624291-FE3F-0B18-CF3D-34BCB77913F9}"/>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6" name="Slide Number Placeholder 5">
            <a:extLst>
              <a:ext uri="{FF2B5EF4-FFF2-40B4-BE49-F238E27FC236}">
                <a16:creationId xmlns:a16="http://schemas.microsoft.com/office/drawing/2014/main" id="{CE7EDC3D-D206-E12F-251F-139A5517DA9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5</a:t>
            </a:fld>
            <a:endParaRPr lang="en-US"/>
          </a:p>
        </p:txBody>
      </p:sp>
      <p:sp>
        <p:nvSpPr>
          <p:cNvPr id="3" name="Content Placeholder 2">
            <a:extLst>
              <a:ext uri="{FF2B5EF4-FFF2-40B4-BE49-F238E27FC236}">
                <a16:creationId xmlns:a16="http://schemas.microsoft.com/office/drawing/2014/main" id="{E3D6EC1F-4EF4-A1E4-3E5E-B803DE1FE092}"/>
              </a:ext>
            </a:extLst>
          </p:cNvPr>
          <p:cNvSpPr>
            <a:spLocks noGrp="1"/>
          </p:cNvSpPr>
          <p:nvPr>
            <p:ph sz="quarter" idx="16"/>
          </p:nvPr>
        </p:nvSpPr>
        <p:spPr>
          <a:xfrm>
            <a:off x="838199" y="2136775"/>
            <a:ext cx="10815321" cy="3623945"/>
          </a:xfrm>
        </p:spPr>
        <p:txBody>
          <a:bodyPr>
            <a:normAutofit/>
          </a:bodyPr>
          <a:lstStyle/>
          <a:p>
            <a:r>
              <a:rPr lang="en-US" sz="2400" b="1" dirty="0"/>
              <a:t>Home screen</a:t>
            </a:r>
          </a:p>
          <a:p>
            <a:r>
              <a:rPr lang="en-US" sz="2400" b="1" dirty="0"/>
              <a:t>Administration</a:t>
            </a:r>
          </a:p>
          <a:p>
            <a:r>
              <a:rPr lang="en-US" sz="2400" b="1" dirty="0"/>
              <a:t>Configuration</a:t>
            </a:r>
          </a:p>
          <a:p>
            <a:r>
              <a:rPr lang="en-US" sz="2400" b="1" dirty="0"/>
              <a:t>Migration</a:t>
            </a:r>
          </a:p>
          <a:p>
            <a:r>
              <a:rPr lang="en-US" sz="2400" b="1" dirty="0"/>
              <a:t>Metadata Selection</a:t>
            </a:r>
          </a:p>
          <a:p>
            <a:r>
              <a:rPr lang="en-US" sz="2400" b="1" dirty="0"/>
              <a:t>Reports &amp; Statistics</a:t>
            </a:r>
          </a:p>
          <a:p>
            <a:r>
              <a:rPr lang="en-US" sz="2400" b="1" dirty="0"/>
              <a:t>Technical Information</a:t>
            </a:r>
          </a:p>
        </p:txBody>
      </p:sp>
    </p:spTree>
    <p:extLst>
      <p:ext uri="{BB962C8B-B14F-4D97-AF65-F5344CB8AC3E}">
        <p14:creationId xmlns:p14="http://schemas.microsoft.com/office/powerpoint/2010/main" val="3990090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3D21-FD85-593D-B58D-9E2EFF150176}"/>
              </a:ext>
            </a:extLst>
          </p:cNvPr>
          <p:cNvSpPr>
            <a:spLocks noGrp="1"/>
          </p:cNvSpPr>
          <p:nvPr>
            <p:ph type="title"/>
          </p:nvPr>
        </p:nvSpPr>
        <p:spPr/>
        <p:txBody>
          <a:bodyPr/>
          <a:lstStyle/>
          <a:p>
            <a:r>
              <a:rPr lang="en-US" dirty="0"/>
              <a:t>Home screen</a:t>
            </a:r>
          </a:p>
        </p:txBody>
      </p:sp>
      <p:sp>
        <p:nvSpPr>
          <p:cNvPr id="3" name="Date Placeholder 2">
            <a:extLst>
              <a:ext uri="{FF2B5EF4-FFF2-40B4-BE49-F238E27FC236}">
                <a16:creationId xmlns:a16="http://schemas.microsoft.com/office/drawing/2014/main" id="{04AF01A8-A5BE-6205-8732-D92C813FA454}"/>
              </a:ext>
            </a:extLst>
          </p:cNvPr>
          <p:cNvSpPr>
            <a:spLocks noGrp="1"/>
          </p:cNvSpPr>
          <p:nvPr>
            <p:ph type="dt" sz="half" idx="10"/>
          </p:nvPr>
        </p:nvSpPr>
        <p:spPr/>
        <p:txBody>
          <a:bodyPr/>
          <a:lstStyle/>
          <a:p>
            <a:r>
              <a:rPr lang="en-US"/>
              <a:t>20XX</a:t>
            </a:r>
            <a:endParaRPr lang="en-US" dirty="0"/>
          </a:p>
        </p:txBody>
      </p:sp>
      <p:sp>
        <p:nvSpPr>
          <p:cNvPr id="5" name="Slide Number Placeholder 4">
            <a:extLst>
              <a:ext uri="{FF2B5EF4-FFF2-40B4-BE49-F238E27FC236}">
                <a16:creationId xmlns:a16="http://schemas.microsoft.com/office/drawing/2014/main" id="{680694A6-E809-93D0-3193-227437D99024}"/>
              </a:ext>
            </a:extLst>
          </p:cNvPr>
          <p:cNvSpPr>
            <a:spLocks noGrp="1"/>
          </p:cNvSpPr>
          <p:nvPr>
            <p:ph type="sldNum" sz="quarter" idx="12"/>
          </p:nvPr>
        </p:nvSpPr>
        <p:spPr/>
        <p:txBody>
          <a:bodyPr/>
          <a:lstStyle/>
          <a:p>
            <a:fld id="{B5CEABB6-07DC-46E8-9B57-56EC44A396E5}" type="slidenum">
              <a:rPr lang="en-US" smtClean="0"/>
              <a:t>6</a:t>
            </a:fld>
            <a:endParaRPr lang="en-US" dirty="0"/>
          </a:p>
        </p:txBody>
      </p:sp>
      <p:sp>
        <p:nvSpPr>
          <p:cNvPr id="6" name="Content Placeholder 5">
            <a:extLst>
              <a:ext uri="{FF2B5EF4-FFF2-40B4-BE49-F238E27FC236}">
                <a16:creationId xmlns:a16="http://schemas.microsoft.com/office/drawing/2014/main" id="{38F1D971-B50F-AB07-22C0-9FCCB1FF9B9E}"/>
              </a:ext>
            </a:extLst>
          </p:cNvPr>
          <p:cNvSpPr>
            <a:spLocks noGrp="1"/>
          </p:cNvSpPr>
          <p:nvPr>
            <p:ph sz="quarter" idx="16"/>
          </p:nvPr>
        </p:nvSpPr>
        <p:spPr>
          <a:xfrm>
            <a:off x="838200" y="1809581"/>
            <a:ext cx="10591801" cy="1429385"/>
          </a:xfrm>
        </p:spPr>
        <p:txBody>
          <a:bodyPr>
            <a:normAutofit fontScale="92500"/>
          </a:bodyPr>
          <a:lstStyle/>
          <a:p>
            <a:r>
              <a:rPr lang="en-US" dirty="0"/>
              <a:t>The landing page of </a:t>
            </a:r>
            <a:r>
              <a:rPr lang="en-US" dirty="0" err="1"/>
              <a:t>jBLoader</a:t>
            </a:r>
            <a:r>
              <a:rPr lang="en-US" dirty="0"/>
              <a:t> will have a list of menus and a dashboard that holds a summary of the status for the tables being extracted and the list of configured schedulers along with their status </a:t>
            </a:r>
          </a:p>
        </p:txBody>
      </p:sp>
      <p:pic>
        <p:nvPicPr>
          <p:cNvPr id="10" name="Picture 9">
            <a:extLst>
              <a:ext uri="{FF2B5EF4-FFF2-40B4-BE49-F238E27FC236}">
                <a16:creationId xmlns:a16="http://schemas.microsoft.com/office/drawing/2014/main" id="{98523CAC-6DEF-E288-3469-52CA15B63860}"/>
              </a:ext>
            </a:extLst>
          </p:cNvPr>
          <p:cNvPicPr>
            <a:picLocks noChangeAspect="1"/>
          </p:cNvPicPr>
          <p:nvPr/>
        </p:nvPicPr>
        <p:blipFill>
          <a:blip r:embed="rId2"/>
          <a:stretch>
            <a:fillRect/>
          </a:stretch>
        </p:blipFill>
        <p:spPr>
          <a:xfrm>
            <a:off x="1924947" y="3238966"/>
            <a:ext cx="8395078" cy="3385353"/>
          </a:xfrm>
          <a:prstGeom prst="rect">
            <a:avLst/>
          </a:prstGeom>
        </p:spPr>
      </p:pic>
    </p:spTree>
    <p:extLst>
      <p:ext uri="{BB962C8B-B14F-4D97-AF65-F5344CB8AC3E}">
        <p14:creationId xmlns:p14="http://schemas.microsoft.com/office/powerpoint/2010/main" val="2144743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EFC9B-6AA6-D9FF-A645-B1F749745187}"/>
              </a:ext>
            </a:extLst>
          </p:cNvPr>
          <p:cNvSpPr>
            <a:spLocks noGrp="1"/>
          </p:cNvSpPr>
          <p:nvPr>
            <p:ph type="title"/>
          </p:nvPr>
        </p:nvSpPr>
        <p:spPr/>
        <p:txBody>
          <a:bodyPr/>
          <a:lstStyle/>
          <a:p>
            <a:r>
              <a:rPr lang="en-US" dirty="0"/>
              <a:t>scheduler (task) status summary</a:t>
            </a:r>
          </a:p>
        </p:txBody>
      </p:sp>
      <p:sp>
        <p:nvSpPr>
          <p:cNvPr id="3" name="Date Placeholder 2">
            <a:extLst>
              <a:ext uri="{FF2B5EF4-FFF2-40B4-BE49-F238E27FC236}">
                <a16:creationId xmlns:a16="http://schemas.microsoft.com/office/drawing/2014/main" id="{48B09EDC-18D8-F438-D20D-90154142B1F3}"/>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C78F04F2-E293-77C1-B1BE-EE2C182A6BFC}"/>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787FE2A9-4B0E-ADE8-8998-F98E5114CB32}"/>
              </a:ext>
            </a:extLst>
          </p:cNvPr>
          <p:cNvSpPr>
            <a:spLocks noGrp="1"/>
          </p:cNvSpPr>
          <p:nvPr>
            <p:ph type="sldNum" sz="quarter" idx="12"/>
          </p:nvPr>
        </p:nvSpPr>
        <p:spPr/>
        <p:txBody>
          <a:bodyPr/>
          <a:lstStyle/>
          <a:p>
            <a:fld id="{B5CEABB6-07DC-46E8-9B57-56EC44A396E5}" type="slidenum">
              <a:rPr lang="en-US" smtClean="0"/>
              <a:t>7</a:t>
            </a:fld>
            <a:endParaRPr lang="en-US" dirty="0"/>
          </a:p>
        </p:txBody>
      </p:sp>
      <p:pic>
        <p:nvPicPr>
          <p:cNvPr id="8" name="Content Placeholder 7">
            <a:extLst>
              <a:ext uri="{FF2B5EF4-FFF2-40B4-BE49-F238E27FC236}">
                <a16:creationId xmlns:a16="http://schemas.microsoft.com/office/drawing/2014/main" id="{C0316408-1AD1-29A0-BDAC-873313557DC9}"/>
              </a:ext>
            </a:extLst>
          </p:cNvPr>
          <p:cNvPicPr>
            <a:picLocks noGrp="1" noChangeAspect="1"/>
          </p:cNvPicPr>
          <p:nvPr>
            <p:ph sz="quarter" idx="16"/>
          </p:nvPr>
        </p:nvPicPr>
        <p:blipFill>
          <a:blip r:embed="rId2"/>
          <a:stretch>
            <a:fillRect/>
          </a:stretch>
        </p:blipFill>
        <p:spPr>
          <a:xfrm>
            <a:off x="1935165" y="1281223"/>
            <a:ext cx="8321669" cy="2848012"/>
          </a:xfrm>
          <a:prstGeom prst="rect">
            <a:avLst/>
          </a:prstGeom>
        </p:spPr>
      </p:pic>
      <p:pic>
        <p:nvPicPr>
          <p:cNvPr id="10" name="Picture 9">
            <a:extLst>
              <a:ext uri="{FF2B5EF4-FFF2-40B4-BE49-F238E27FC236}">
                <a16:creationId xmlns:a16="http://schemas.microsoft.com/office/drawing/2014/main" id="{D7C2A9F4-7DB0-60C3-086F-B2D7A82FF926}"/>
              </a:ext>
            </a:extLst>
          </p:cNvPr>
          <p:cNvPicPr>
            <a:picLocks noChangeAspect="1"/>
          </p:cNvPicPr>
          <p:nvPr/>
        </p:nvPicPr>
        <p:blipFill>
          <a:blip r:embed="rId3"/>
          <a:stretch>
            <a:fillRect/>
          </a:stretch>
        </p:blipFill>
        <p:spPr>
          <a:xfrm>
            <a:off x="2036765" y="4129235"/>
            <a:ext cx="8529635" cy="2515272"/>
          </a:xfrm>
          <a:prstGeom prst="rect">
            <a:avLst/>
          </a:prstGeom>
        </p:spPr>
      </p:pic>
    </p:spTree>
    <p:extLst>
      <p:ext uri="{BB962C8B-B14F-4D97-AF65-F5344CB8AC3E}">
        <p14:creationId xmlns:p14="http://schemas.microsoft.com/office/powerpoint/2010/main" val="2018957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A5A73-CE6F-EA41-5E6A-9C8D709EB8B5}"/>
              </a:ext>
            </a:extLst>
          </p:cNvPr>
          <p:cNvSpPr>
            <a:spLocks noGrp="1"/>
          </p:cNvSpPr>
          <p:nvPr>
            <p:ph type="title"/>
          </p:nvPr>
        </p:nvSpPr>
        <p:spPr>
          <a:xfrm>
            <a:off x="838200" y="365125"/>
            <a:ext cx="10515600" cy="1325563"/>
          </a:xfrm>
        </p:spPr>
        <p:txBody>
          <a:bodyPr anchor="ctr">
            <a:normAutofit/>
          </a:bodyPr>
          <a:lstStyle/>
          <a:p>
            <a:r>
              <a:rPr lang="en-US" dirty="0"/>
              <a:t>administration</a:t>
            </a:r>
          </a:p>
        </p:txBody>
      </p:sp>
      <p:sp>
        <p:nvSpPr>
          <p:cNvPr id="3" name="Date Placeholder 2">
            <a:extLst>
              <a:ext uri="{FF2B5EF4-FFF2-40B4-BE49-F238E27FC236}">
                <a16:creationId xmlns:a16="http://schemas.microsoft.com/office/drawing/2014/main" id="{47CBF4C3-9C39-5E4A-BC44-B85C09359AA9}"/>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13" name="Footer Placeholder 3">
            <a:extLst>
              <a:ext uri="{FF2B5EF4-FFF2-40B4-BE49-F238E27FC236}">
                <a16:creationId xmlns:a16="http://schemas.microsoft.com/office/drawing/2014/main" id="{572C2C03-8417-B4A7-06E6-545014DCBA31}"/>
              </a:ext>
            </a:extLst>
          </p:cNvPr>
          <p:cNvSpPr>
            <a:spLocks noGrp="1"/>
          </p:cNvSpPr>
          <p:nvPr>
            <p:ph type="ftr" sz="quarter" idx="11"/>
          </p:nvPr>
        </p:nvSpPr>
        <p:spPr>
          <a:xfrm>
            <a:off x="4038600" y="6356350"/>
            <a:ext cx="4114800" cy="365125"/>
          </a:xfrm>
        </p:spPr>
        <p:txBody>
          <a:bodyPr/>
          <a:lstStyle/>
          <a:p>
            <a:pPr>
              <a:spcAft>
                <a:spcPts val="600"/>
              </a:spcAft>
            </a:pPr>
            <a:r>
              <a:rPr lang="en-US" dirty="0"/>
              <a:t>Pitch Deck</a:t>
            </a:r>
          </a:p>
        </p:txBody>
      </p:sp>
      <p:sp>
        <p:nvSpPr>
          <p:cNvPr id="5" name="Slide Number Placeholder 4">
            <a:extLst>
              <a:ext uri="{FF2B5EF4-FFF2-40B4-BE49-F238E27FC236}">
                <a16:creationId xmlns:a16="http://schemas.microsoft.com/office/drawing/2014/main" id="{291C68CF-B566-CF67-6ADB-D6F0A6614CA9}"/>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8</a:t>
            </a:fld>
            <a:endParaRPr lang="en-US"/>
          </a:p>
        </p:txBody>
      </p:sp>
      <p:sp>
        <p:nvSpPr>
          <p:cNvPr id="6" name="Content Placeholder 5">
            <a:extLst>
              <a:ext uri="{FF2B5EF4-FFF2-40B4-BE49-F238E27FC236}">
                <a16:creationId xmlns:a16="http://schemas.microsoft.com/office/drawing/2014/main" id="{639796F0-2408-48C8-8D56-E06AB9BF0237}"/>
              </a:ext>
            </a:extLst>
          </p:cNvPr>
          <p:cNvSpPr>
            <a:spLocks noGrp="1"/>
          </p:cNvSpPr>
          <p:nvPr>
            <p:ph sz="quarter" idx="16"/>
          </p:nvPr>
        </p:nvSpPr>
        <p:spPr>
          <a:xfrm>
            <a:off x="838199" y="2136775"/>
            <a:ext cx="8260079" cy="3697288"/>
          </a:xfrm>
        </p:spPr>
        <p:txBody>
          <a:bodyPr>
            <a:normAutofit/>
          </a:bodyPr>
          <a:lstStyle/>
          <a:p>
            <a:r>
              <a:rPr lang="en-US" dirty="0"/>
              <a:t>The administration menu is used to control </a:t>
            </a:r>
            <a:r>
              <a:rPr lang="en-US" dirty="0" err="1"/>
              <a:t>jBLoader</a:t>
            </a:r>
            <a:r>
              <a:rPr lang="en-US" dirty="0"/>
              <a:t> users, i.e., to restrict access to the </a:t>
            </a:r>
            <a:r>
              <a:rPr lang="en-US" dirty="0" err="1"/>
              <a:t>jBLoader</a:t>
            </a:r>
            <a:r>
              <a:rPr lang="en-US" dirty="0"/>
              <a:t> application based on user usability, and also to configure the basic details required for the application</a:t>
            </a:r>
          </a:p>
        </p:txBody>
      </p:sp>
      <p:pic>
        <p:nvPicPr>
          <p:cNvPr id="8" name="Picture 7">
            <a:extLst>
              <a:ext uri="{FF2B5EF4-FFF2-40B4-BE49-F238E27FC236}">
                <a16:creationId xmlns:a16="http://schemas.microsoft.com/office/drawing/2014/main" id="{BC3884B7-EB67-6351-DA86-1B892AE4DABC}"/>
              </a:ext>
            </a:extLst>
          </p:cNvPr>
          <p:cNvPicPr>
            <a:picLocks noChangeAspect="1"/>
          </p:cNvPicPr>
          <p:nvPr/>
        </p:nvPicPr>
        <p:blipFill>
          <a:blip r:embed="rId2"/>
          <a:srcRect b="-2"/>
          <a:stretch>
            <a:fillRect/>
          </a:stretch>
        </p:blipFill>
        <p:spPr>
          <a:xfrm>
            <a:off x="8902698" y="1977602"/>
            <a:ext cx="2832102" cy="4015633"/>
          </a:xfrm>
          <a:prstGeom prst="rect">
            <a:avLst/>
          </a:prstGeom>
          <a:noFill/>
        </p:spPr>
      </p:pic>
    </p:spTree>
    <p:extLst>
      <p:ext uri="{BB962C8B-B14F-4D97-AF65-F5344CB8AC3E}">
        <p14:creationId xmlns:p14="http://schemas.microsoft.com/office/powerpoint/2010/main" val="3170243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8DCF7-A442-6DDA-77D2-83D706D4FEA4}"/>
              </a:ext>
            </a:extLst>
          </p:cNvPr>
          <p:cNvSpPr>
            <a:spLocks noGrp="1"/>
          </p:cNvSpPr>
          <p:nvPr>
            <p:ph type="title"/>
          </p:nvPr>
        </p:nvSpPr>
        <p:spPr/>
        <p:txBody>
          <a:bodyPr/>
          <a:lstStyle/>
          <a:p>
            <a:r>
              <a:rPr lang="en-US" dirty="0"/>
              <a:t>User Profile</a:t>
            </a:r>
          </a:p>
        </p:txBody>
      </p:sp>
      <p:sp>
        <p:nvSpPr>
          <p:cNvPr id="3" name="Date Placeholder 2">
            <a:extLst>
              <a:ext uri="{FF2B5EF4-FFF2-40B4-BE49-F238E27FC236}">
                <a16:creationId xmlns:a16="http://schemas.microsoft.com/office/drawing/2014/main" id="{D63A43FA-8067-41DD-2F73-6A764B7D9492}"/>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543ADDF8-D283-E997-3215-649C62218233}"/>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151BC8A2-297A-C579-1D53-AEB87FACCA85}"/>
              </a:ext>
            </a:extLst>
          </p:cNvPr>
          <p:cNvSpPr>
            <a:spLocks noGrp="1"/>
          </p:cNvSpPr>
          <p:nvPr>
            <p:ph type="sldNum" sz="quarter" idx="12"/>
          </p:nvPr>
        </p:nvSpPr>
        <p:spPr/>
        <p:txBody>
          <a:bodyPr/>
          <a:lstStyle/>
          <a:p>
            <a:fld id="{B5CEABB6-07DC-46E8-9B57-56EC44A396E5}" type="slidenum">
              <a:rPr lang="en-US" smtClean="0"/>
              <a:t>9</a:t>
            </a:fld>
            <a:endParaRPr lang="en-US" dirty="0"/>
          </a:p>
        </p:txBody>
      </p:sp>
      <p:sp>
        <p:nvSpPr>
          <p:cNvPr id="6" name="Content Placeholder 5">
            <a:extLst>
              <a:ext uri="{FF2B5EF4-FFF2-40B4-BE49-F238E27FC236}">
                <a16:creationId xmlns:a16="http://schemas.microsoft.com/office/drawing/2014/main" id="{10092324-E05D-20CC-EB67-3DCA10056277}"/>
              </a:ext>
            </a:extLst>
          </p:cNvPr>
          <p:cNvSpPr>
            <a:spLocks noGrp="1"/>
          </p:cNvSpPr>
          <p:nvPr>
            <p:ph sz="quarter" idx="16"/>
          </p:nvPr>
        </p:nvSpPr>
        <p:spPr>
          <a:xfrm>
            <a:off x="922364" y="1415415"/>
            <a:ext cx="10515599" cy="2557145"/>
          </a:xfrm>
        </p:spPr>
        <p:txBody>
          <a:bodyPr>
            <a:normAutofit/>
          </a:bodyPr>
          <a:lstStyle/>
          <a:p>
            <a:r>
              <a:rPr lang="en-US" dirty="0"/>
              <a:t>A new user can be set up based on the role assigned to them to use the application. This role can be changed at any time if the administrator wants to restrict access.</a:t>
            </a:r>
          </a:p>
          <a:p>
            <a:r>
              <a:rPr lang="en-US" dirty="0"/>
              <a:t>An email ID needs to be configured; this will be used while resetting their password.</a:t>
            </a:r>
            <a:br>
              <a:rPr lang="en-US" dirty="0"/>
            </a:br>
            <a:endParaRPr lang="en-US" dirty="0"/>
          </a:p>
        </p:txBody>
      </p:sp>
      <p:pic>
        <p:nvPicPr>
          <p:cNvPr id="8" name="Picture 7">
            <a:extLst>
              <a:ext uri="{FF2B5EF4-FFF2-40B4-BE49-F238E27FC236}">
                <a16:creationId xmlns:a16="http://schemas.microsoft.com/office/drawing/2014/main" id="{4E48F918-2002-EEAF-EC75-B26978FE0240}"/>
              </a:ext>
            </a:extLst>
          </p:cNvPr>
          <p:cNvPicPr>
            <a:picLocks noChangeAspect="1"/>
          </p:cNvPicPr>
          <p:nvPr/>
        </p:nvPicPr>
        <p:blipFill>
          <a:blip r:embed="rId2"/>
          <a:stretch>
            <a:fillRect/>
          </a:stretch>
        </p:blipFill>
        <p:spPr>
          <a:xfrm>
            <a:off x="1793583" y="3620633"/>
            <a:ext cx="8773160" cy="3100842"/>
          </a:xfrm>
          <a:prstGeom prst="rect">
            <a:avLst/>
          </a:prstGeom>
        </p:spPr>
      </p:pic>
    </p:spTree>
    <p:extLst>
      <p:ext uri="{BB962C8B-B14F-4D97-AF65-F5344CB8AC3E}">
        <p14:creationId xmlns:p14="http://schemas.microsoft.com/office/powerpoint/2010/main" val="2674198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E01BD-8F8F-4521-4B2D-8728AA73B5B2}"/>
              </a:ext>
            </a:extLst>
          </p:cNvPr>
          <p:cNvSpPr>
            <a:spLocks noGrp="1"/>
          </p:cNvSpPr>
          <p:nvPr>
            <p:ph type="title"/>
          </p:nvPr>
        </p:nvSpPr>
        <p:spPr>
          <a:xfrm>
            <a:off x="838200" y="365125"/>
            <a:ext cx="10515600" cy="1325563"/>
          </a:xfrm>
        </p:spPr>
        <p:txBody>
          <a:bodyPr anchor="ctr">
            <a:normAutofit/>
          </a:bodyPr>
          <a:lstStyle/>
          <a:p>
            <a:r>
              <a:rPr lang="en-US" dirty="0"/>
              <a:t>Role Maintenance</a:t>
            </a:r>
          </a:p>
        </p:txBody>
      </p:sp>
      <p:sp>
        <p:nvSpPr>
          <p:cNvPr id="3" name="Date Placeholder 2">
            <a:extLst>
              <a:ext uri="{FF2B5EF4-FFF2-40B4-BE49-F238E27FC236}">
                <a16:creationId xmlns:a16="http://schemas.microsoft.com/office/drawing/2014/main" id="{D29F17BE-53C1-2FB0-0693-1C26FC23A595}"/>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BC75035A-8D8E-E5FA-63FF-7FC95A26741F}"/>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5" name="Slide Number Placeholder 4">
            <a:extLst>
              <a:ext uri="{FF2B5EF4-FFF2-40B4-BE49-F238E27FC236}">
                <a16:creationId xmlns:a16="http://schemas.microsoft.com/office/drawing/2014/main" id="{B5B632A9-052B-6DB7-A4E5-D26341C88F79}"/>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10</a:t>
            </a:fld>
            <a:endParaRPr lang="en-US"/>
          </a:p>
        </p:txBody>
      </p:sp>
      <p:sp>
        <p:nvSpPr>
          <p:cNvPr id="6" name="Content Placeholder 5">
            <a:extLst>
              <a:ext uri="{FF2B5EF4-FFF2-40B4-BE49-F238E27FC236}">
                <a16:creationId xmlns:a16="http://schemas.microsoft.com/office/drawing/2014/main" id="{06603EC6-AE7F-79C6-265A-707D044C5ACE}"/>
              </a:ext>
            </a:extLst>
          </p:cNvPr>
          <p:cNvSpPr>
            <a:spLocks noGrp="1"/>
          </p:cNvSpPr>
          <p:nvPr>
            <p:ph sz="quarter" idx="16"/>
          </p:nvPr>
        </p:nvSpPr>
        <p:spPr>
          <a:xfrm>
            <a:off x="838199" y="2136775"/>
            <a:ext cx="5162549" cy="3697288"/>
          </a:xfrm>
        </p:spPr>
        <p:txBody>
          <a:bodyPr>
            <a:normAutofit/>
          </a:bodyPr>
          <a:lstStyle/>
          <a:p>
            <a:r>
              <a:rPr lang="en-US" dirty="0"/>
              <a:t>The user access to the menu will be restricted at the role level. A role can be set up and the required access to the menus will be </a:t>
            </a:r>
            <a:r>
              <a:rPr lang="en-US" dirty="0" err="1"/>
              <a:t>assingned</a:t>
            </a:r>
            <a:r>
              <a:rPr lang="en-US" dirty="0"/>
              <a:t> to it. So that the user can access only those menus and the other menus will not be visible in their login</a:t>
            </a:r>
          </a:p>
          <a:p>
            <a:endParaRPr lang="en-US" dirty="0"/>
          </a:p>
        </p:txBody>
      </p:sp>
      <p:pic>
        <p:nvPicPr>
          <p:cNvPr id="8" name="Picture 7">
            <a:extLst>
              <a:ext uri="{FF2B5EF4-FFF2-40B4-BE49-F238E27FC236}">
                <a16:creationId xmlns:a16="http://schemas.microsoft.com/office/drawing/2014/main" id="{40DCE29D-1503-3B7B-FF7C-21C5A9EEEE3C}"/>
              </a:ext>
            </a:extLst>
          </p:cNvPr>
          <p:cNvPicPr>
            <a:picLocks noChangeAspect="1"/>
          </p:cNvPicPr>
          <p:nvPr/>
        </p:nvPicPr>
        <p:blipFill>
          <a:blip r:embed="rId2"/>
          <a:srcRect l="-1219" r="12172" b="2"/>
          <a:stretch>
            <a:fillRect/>
          </a:stretch>
        </p:blipFill>
        <p:spPr>
          <a:xfrm>
            <a:off x="6191248" y="2136774"/>
            <a:ext cx="5634992" cy="3933771"/>
          </a:xfrm>
          <a:prstGeom prst="rect">
            <a:avLst/>
          </a:prstGeom>
          <a:noFill/>
        </p:spPr>
      </p:pic>
    </p:spTree>
    <p:extLst>
      <p:ext uri="{BB962C8B-B14F-4D97-AF65-F5344CB8AC3E}">
        <p14:creationId xmlns:p14="http://schemas.microsoft.com/office/powerpoint/2010/main" val="56569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E95CB-9C30-E11A-753E-C1C2CE284DBE}"/>
              </a:ext>
            </a:extLst>
          </p:cNvPr>
          <p:cNvSpPr>
            <a:spLocks noGrp="1"/>
          </p:cNvSpPr>
          <p:nvPr>
            <p:ph type="title"/>
          </p:nvPr>
        </p:nvSpPr>
        <p:spPr/>
        <p:txBody>
          <a:bodyPr/>
          <a:lstStyle/>
          <a:p>
            <a:r>
              <a:rPr lang="en-US" dirty="0"/>
              <a:t>Parameter Configuration</a:t>
            </a:r>
          </a:p>
        </p:txBody>
      </p:sp>
      <p:sp>
        <p:nvSpPr>
          <p:cNvPr id="3" name="Date Placeholder 2">
            <a:extLst>
              <a:ext uri="{FF2B5EF4-FFF2-40B4-BE49-F238E27FC236}">
                <a16:creationId xmlns:a16="http://schemas.microsoft.com/office/drawing/2014/main" id="{45EABD7F-216C-5428-569D-B4FF3E374FB3}"/>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23D89F75-C313-8960-620E-8650C078F42B}"/>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5AD2B3BD-0B58-76B9-4AF6-12AAE890D8EF}"/>
              </a:ext>
            </a:extLst>
          </p:cNvPr>
          <p:cNvSpPr>
            <a:spLocks noGrp="1"/>
          </p:cNvSpPr>
          <p:nvPr>
            <p:ph type="sldNum" sz="quarter" idx="12"/>
          </p:nvPr>
        </p:nvSpPr>
        <p:spPr/>
        <p:txBody>
          <a:bodyPr/>
          <a:lstStyle/>
          <a:p>
            <a:fld id="{B5CEABB6-07DC-46E8-9B57-56EC44A396E5}" type="slidenum">
              <a:rPr lang="en-US" smtClean="0"/>
              <a:t>11</a:t>
            </a:fld>
            <a:endParaRPr lang="en-US" dirty="0"/>
          </a:p>
        </p:txBody>
      </p:sp>
      <p:sp>
        <p:nvSpPr>
          <p:cNvPr id="6" name="Content Placeholder 5">
            <a:extLst>
              <a:ext uri="{FF2B5EF4-FFF2-40B4-BE49-F238E27FC236}">
                <a16:creationId xmlns:a16="http://schemas.microsoft.com/office/drawing/2014/main" id="{51D31FC2-877A-EEB5-E9F5-4608565BE2B3}"/>
              </a:ext>
            </a:extLst>
          </p:cNvPr>
          <p:cNvSpPr>
            <a:spLocks noGrp="1"/>
          </p:cNvSpPr>
          <p:nvPr>
            <p:ph sz="quarter" idx="16"/>
          </p:nvPr>
        </p:nvSpPr>
        <p:spPr>
          <a:xfrm>
            <a:off x="401321" y="1690688"/>
            <a:ext cx="11170919" cy="2769552"/>
          </a:xfrm>
        </p:spPr>
        <p:txBody>
          <a:bodyPr>
            <a:normAutofit fontScale="70000" lnSpcReduction="20000"/>
          </a:bodyPr>
          <a:lstStyle/>
          <a:p>
            <a:r>
              <a:rPr lang="en-US" sz="2600" dirty="0"/>
              <a:t>It holds the default configuration based on various criteria that will be used for the extraction</a:t>
            </a:r>
          </a:p>
          <a:p>
            <a:r>
              <a:rPr lang="en-US" sz="2600" dirty="0"/>
              <a:t>Basic Parameter</a:t>
            </a:r>
          </a:p>
          <a:p>
            <a:pPr lvl="1"/>
            <a:r>
              <a:rPr lang="en-US" sz="2100" dirty="0"/>
              <a:t>Batch size: Number of records that will be extracted per CSV file (Default: 200,000)</a:t>
            </a:r>
          </a:p>
          <a:p>
            <a:pPr lvl="1"/>
            <a:r>
              <a:rPr lang="en-US" sz="2100" dirty="0"/>
              <a:t>Thread size: Maximum number of threads used during extraction for a single table (Default: 7)</a:t>
            </a:r>
          </a:p>
          <a:p>
            <a:pPr lvl="1"/>
            <a:r>
              <a:rPr lang="en-US" sz="2100" dirty="0"/>
              <a:t>Write size: Defines the sizes to be written for the number of column tags parsed (Default: 200)</a:t>
            </a:r>
          </a:p>
          <a:p>
            <a:pPr lvl="1"/>
            <a:r>
              <a:rPr lang="en-US" sz="2100" dirty="0"/>
              <a:t>Scheduler interval time :Interval time for the scheduler to monitor any change in the scheduler status to trigger the extraction process (Time in secs)</a:t>
            </a:r>
          </a:p>
          <a:p>
            <a:pPr lvl="1"/>
            <a:r>
              <a:rPr lang="en-US" sz="2100" dirty="0"/>
              <a:t>Dates Table: The actual table name in the source database for the DATES table. This is used to have the current 124 date in all the extracted records in the target database.</a:t>
            </a:r>
          </a:p>
          <a:p>
            <a:pPr lvl="1"/>
            <a:r>
              <a:rPr lang="en-US" sz="2100" dirty="0"/>
              <a:t>Dates RECID: The default record ID of the DATES table from the source database.</a:t>
            </a:r>
          </a:p>
          <a:p>
            <a:pPr lvl="1"/>
            <a:r>
              <a:rPr lang="en-US" sz="2100" dirty="0"/>
              <a:t>Application home </a:t>
            </a:r>
            <a:r>
              <a:rPr lang="en-US" sz="2100" dirty="0" err="1"/>
              <a:t>path:The</a:t>
            </a:r>
            <a:r>
              <a:rPr lang="en-US" sz="2100" dirty="0"/>
              <a:t> home path of the </a:t>
            </a:r>
            <a:r>
              <a:rPr lang="en-US" sz="2100" dirty="0" err="1"/>
              <a:t>jBLoader</a:t>
            </a:r>
            <a:r>
              <a:rPr lang="en-US" sz="2100" dirty="0"/>
              <a:t> application available on the server. All the necessary logs and the required license will be available here</a:t>
            </a:r>
          </a:p>
        </p:txBody>
      </p:sp>
      <p:pic>
        <p:nvPicPr>
          <p:cNvPr id="8" name="Picture 7">
            <a:extLst>
              <a:ext uri="{FF2B5EF4-FFF2-40B4-BE49-F238E27FC236}">
                <a16:creationId xmlns:a16="http://schemas.microsoft.com/office/drawing/2014/main" id="{A18A57BB-AD00-79D2-F4B2-D8F761570386}"/>
              </a:ext>
            </a:extLst>
          </p:cNvPr>
          <p:cNvPicPr>
            <a:picLocks noChangeAspect="1"/>
          </p:cNvPicPr>
          <p:nvPr/>
        </p:nvPicPr>
        <p:blipFill>
          <a:blip r:embed="rId2"/>
          <a:stretch>
            <a:fillRect/>
          </a:stretch>
        </p:blipFill>
        <p:spPr>
          <a:xfrm>
            <a:off x="1674556" y="4356416"/>
            <a:ext cx="8842887" cy="2365059"/>
          </a:xfrm>
          <a:prstGeom prst="rect">
            <a:avLst/>
          </a:prstGeom>
        </p:spPr>
      </p:pic>
    </p:spTree>
    <p:extLst>
      <p:ext uri="{BB962C8B-B14F-4D97-AF65-F5344CB8AC3E}">
        <p14:creationId xmlns:p14="http://schemas.microsoft.com/office/powerpoint/2010/main" val="3859091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18A7-2AD6-4E13-EB93-72FF191DF2BE}"/>
              </a:ext>
            </a:extLst>
          </p:cNvPr>
          <p:cNvSpPr>
            <a:spLocks noGrp="1"/>
          </p:cNvSpPr>
          <p:nvPr>
            <p:ph type="title"/>
          </p:nvPr>
        </p:nvSpPr>
        <p:spPr>
          <a:xfrm>
            <a:off x="838200" y="365125"/>
            <a:ext cx="10515600" cy="1325563"/>
          </a:xfrm>
        </p:spPr>
        <p:txBody>
          <a:bodyPr anchor="ctr">
            <a:normAutofit/>
          </a:bodyPr>
          <a:lstStyle/>
          <a:p>
            <a:r>
              <a:rPr lang="en-US" dirty="0"/>
              <a:t>Configurations</a:t>
            </a:r>
          </a:p>
        </p:txBody>
      </p:sp>
      <p:sp>
        <p:nvSpPr>
          <p:cNvPr id="3" name="Date Placeholder 2">
            <a:extLst>
              <a:ext uri="{FF2B5EF4-FFF2-40B4-BE49-F238E27FC236}">
                <a16:creationId xmlns:a16="http://schemas.microsoft.com/office/drawing/2014/main" id="{F22E86FC-6012-7BF6-BF37-96623939CDFD}"/>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44BA87E9-9737-B81D-EF6B-A50B8DE4BB0E}"/>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Pitch Deck</a:t>
            </a:r>
            <a:endParaRPr lang="en-US"/>
          </a:p>
        </p:txBody>
      </p:sp>
      <p:sp>
        <p:nvSpPr>
          <p:cNvPr id="5" name="Slide Number Placeholder 4">
            <a:extLst>
              <a:ext uri="{FF2B5EF4-FFF2-40B4-BE49-F238E27FC236}">
                <a16:creationId xmlns:a16="http://schemas.microsoft.com/office/drawing/2014/main" id="{3FDD294E-04F3-4C93-69FB-6E6C674EA897}"/>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12</a:t>
            </a:fld>
            <a:endParaRPr lang="en-US"/>
          </a:p>
        </p:txBody>
      </p:sp>
      <p:sp>
        <p:nvSpPr>
          <p:cNvPr id="6" name="Content Placeholder 5">
            <a:extLst>
              <a:ext uri="{FF2B5EF4-FFF2-40B4-BE49-F238E27FC236}">
                <a16:creationId xmlns:a16="http://schemas.microsoft.com/office/drawing/2014/main" id="{935E6329-F6F9-7940-55AF-B8D6C1EF7283}"/>
              </a:ext>
            </a:extLst>
          </p:cNvPr>
          <p:cNvSpPr>
            <a:spLocks noGrp="1"/>
          </p:cNvSpPr>
          <p:nvPr>
            <p:ph sz="quarter" idx="16"/>
          </p:nvPr>
        </p:nvSpPr>
        <p:spPr>
          <a:xfrm>
            <a:off x="838199" y="2136775"/>
            <a:ext cx="5735321" cy="3697288"/>
          </a:xfrm>
        </p:spPr>
        <p:txBody>
          <a:bodyPr>
            <a:normAutofit/>
          </a:bodyPr>
          <a:lstStyle/>
          <a:p>
            <a:r>
              <a:rPr lang="en-US" sz="2400" dirty="0"/>
              <a:t>All the major configurations regarding the extraction will be available under this menu. The source database details (from where data will be extracted) and its corresponding application server details, if required, target database details (data will be stored), email setup, and data exception handling will be configured here</a:t>
            </a:r>
          </a:p>
        </p:txBody>
      </p:sp>
      <p:pic>
        <p:nvPicPr>
          <p:cNvPr id="8" name="Picture 7">
            <a:extLst>
              <a:ext uri="{FF2B5EF4-FFF2-40B4-BE49-F238E27FC236}">
                <a16:creationId xmlns:a16="http://schemas.microsoft.com/office/drawing/2014/main" id="{21702159-DC99-16D9-052A-4E560AF9F4BA}"/>
              </a:ext>
            </a:extLst>
          </p:cNvPr>
          <p:cNvPicPr>
            <a:picLocks noChangeAspect="1"/>
          </p:cNvPicPr>
          <p:nvPr/>
        </p:nvPicPr>
        <p:blipFill>
          <a:blip r:embed="rId2"/>
          <a:srcRect t="1" r="-3" b="-1"/>
          <a:stretch>
            <a:fillRect/>
          </a:stretch>
        </p:blipFill>
        <p:spPr>
          <a:xfrm>
            <a:off x="6729728" y="1531143"/>
            <a:ext cx="5162549" cy="4564063"/>
          </a:xfrm>
          <a:prstGeom prst="rect">
            <a:avLst/>
          </a:prstGeom>
          <a:noFill/>
        </p:spPr>
      </p:pic>
    </p:spTree>
    <p:extLst>
      <p:ext uri="{BB962C8B-B14F-4D97-AF65-F5344CB8AC3E}">
        <p14:creationId xmlns:p14="http://schemas.microsoft.com/office/powerpoint/2010/main" val="1453601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8E097-81E9-E4EF-C8F3-9D727228951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2B905CE-90EE-2C2D-1A63-717BE2ED0F8F}"/>
              </a:ext>
            </a:extLst>
          </p:cNvPr>
          <p:cNvSpPr>
            <a:spLocks noGrp="1"/>
          </p:cNvSpPr>
          <p:nvPr>
            <p:ph type="body" sz="quarter" idx="15"/>
          </p:nvPr>
        </p:nvSpPr>
        <p:spPr>
          <a:xfrm>
            <a:off x="651484" y="182648"/>
            <a:ext cx="5202653" cy="2331952"/>
          </a:xfrm>
        </p:spPr>
        <p:txBody>
          <a:bodyPr>
            <a:noAutofit/>
          </a:bodyPr>
          <a:lstStyle/>
          <a:p>
            <a:pPr algn="l"/>
            <a:r>
              <a:rPr lang="en-US" b="1" dirty="0"/>
              <a:t>1. Source Configuration</a:t>
            </a:r>
          </a:p>
          <a:p>
            <a:pPr marL="457200" lvl="1" indent="0">
              <a:buNone/>
            </a:pPr>
            <a:r>
              <a:rPr lang="en-US" sz="1400" dirty="0"/>
              <a:t>Settings for the </a:t>
            </a:r>
            <a:r>
              <a:rPr lang="en-US" sz="1400" b="1" dirty="0"/>
              <a:t>source system/database</a:t>
            </a:r>
            <a:r>
              <a:rPr lang="en-US" sz="1400" dirty="0"/>
              <a:t> where data comes from.</a:t>
            </a:r>
          </a:p>
          <a:p>
            <a:pPr marL="457200" lvl="1" indent="0">
              <a:buNone/>
            </a:pPr>
            <a:r>
              <a:rPr lang="en-US" sz="1400" dirty="0"/>
              <a:t>Examples:</a:t>
            </a:r>
          </a:p>
          <a:p>
            <a:pPr marL="914400" lvl="2" indent="0">
              <a:buNone/>
            </a:pPr>
            <a:r>
              <a:rPr lang="en-US" sz="1000" dirty="0"/>
              <a:t>Source server name </a:t>
            </a:r>
          </a:p>
          <a:p>
            <a:pPr marL="914400" lvl="2" indent="0">
              <a:buNone/>
            </a:pPr>
            <a:r>
              <a:rPr lang="en-US" sz="1000" dirty="0"/>
              <a:t>Database name </a:t>
            </a:r>
          </a:p>
          <a:p>
            <a:pPr marL="914400" lvl="2" indent="0">
              <a:buNone/>
            </a:pPr>
            <a:r>
              <a:rPr lang="en-US" sz="1000" dirty="0"/>
              <a:t>Username/password </a:t>
            </a:r>
          </a:p>
          <a:p>
            <a:pPr marL="914400" lvl="2" indent="0">
              <a:buNone/>
            </a:pPr>
            <a:r>
              <a:rPr lang="en-US" sz="1000" dirty="0"/>
              <a:t>Port </a:t>
            </a:r>
          </a:p>
          <a:p>
            <a:pPr marL="914400" lvl="2" indent="0">
              <a:buNone/>
            </a:pPr>
            <a:r>
              <a:rPr lang="en-US" sz="1000" dirty="0"/>
              <a:t>Connection type </a:t>
            </a:r>
          </a:p>
          <a:p>
            <a:pPr marL="457200" lvl="1" indent="0">
              <a:buNone/>
            </a:pPr>
            <a:r>
              <a:rPr lang="en-US" sz="1400" b="1" dirty="0"/>
              <a:t>Meaning:</a:t>
            </a:r>
            <a:r>
              <a:rPr lang="en-US" sz="1400" dirty="0"/>
              <a:t> Where </a:t>
            </a:r>
            <a:r>
              <a:rPr lang="en-US" sz="1400" dirty="0" err="1"/>
              <a:t>jBLoader</a:t>
            </a:r>
            <a:r>
              <a:rPr lang="en-US" sz="1400" dirty="0"/>
              <a:t> reads data.</a:t>
            </a:r>
          </a:p>
          <a:p>
            <a:pPr algn="l"/>
            <a:endParaRPr lang="en-US" dirty="0"/>
          </a:p>
        </p:txBody>
      </p:sp>
      <p:sp>
        <p:nvSpPr>
          <p:cNvPr id="6" name="Text Placeholder 5">
            <a:extLst>
              <a:ext uri="{FF2B5EF4-FFF2-40B4-BE49-F238E27FC236}">
                <a16:creationId xmlns:a16="http://schemas.microsoft.com/office/drawing/2014/main" id="{4E65B106-D246-D583-4FC0-AA1658BBFA7D}"/>
              </a:ext>
            </a:extLst>
          </p:cNvPr>
          <p:cNvSpPr>
            <a:spLocks noGrp="1"/>
          </p:cNvSpPr>
          <p:nvPr>
            <p:ph type="body" sz="quarter" idx="17"/>
          </p:nvPr>
        </p:nvSpPr>
        <p:spPr>
          <a:xfrm>
            <a:off x="6137885" y="182648"/>
            <a:ext cx="5402631" cy="2439352"/>
          </a:xfrm>
        </p:spPr>
        <p:txBody>
          <a:bodyPr>
            <a:noAutofit/>
          </a:bodyPr>
          <a:lstStyle/>
          <a:p>
            <a:pPr algn="l"/>
            <a:r>
              <a:rPr lang="en-US" b="1" dirty="0"/>
              <a:t>2. Target Configuration</a:t>
            </a:r>
          </a:p>
          <a:p>
            <a:pPr marL="457200" lvl="1" indent="0">
              <a:buNone/>
            </a:pPr>
            <a:r>
              <a:rPr lang="en-US" sz="1400" dirty="0"/>
              <a:t>Settings for the </a:t>
            </a:r>
            <a:r>
              <a:rPr lang="en-US" sz="1400" b="1" dirty="0"/>
              <a:t>target system/database</a:t>
            </a:r>
            <a:r>
              <a:rPr lang="en-US" sz="1400" dirty="0"/>
              <a:t> where data will be loaded.</a:t>
            </a:r>
          </a:p>
          <a:p>
            <a:pPr marL="457200" lvl="1" indent="0">
              <a:buNone/>
            </a:pPr>
            <a:r>
              <a:rPr lang="en-US" sz="1400" dirty="0"/>
              <a:t>Examples:</a:t>
            </a:r>
          </a:p>
          <a:p>
            <a:pPr lvl="2"/>
            <a:r>
              <a:rPr lang="en-US" sz="1000" dirty="0"/>
              <a:t>Oracle / SQL Server connection </a:t>
            </a:r>
          </a:p>
          <a:p>
            <a:pPr lvl="2"/>
            <a:r>
              <a:rPr lang="en-US" sz="1000" dirty="0"/>
              <a:t>Target table names </a:t>
            </a:r>
          </a:p>
          <a:p>
            <a:pPr lvl="2"/>
            <a:r>
              <a:rPr lang="en-US" sz="1000" dirty="0"/>
              <a:t>Credentials </a:t>
            </a:r>
          </a:p>
          <a:p>
            <a:pPr marL="457200" lvl="1" indent="0">
              <a:buNone/>
            </a:pPr>
            <a:r>
              <a:rPr lang="en-US" sz="1400" b="1" dirty="0"/>
              <a:t>Meaning:</a:t>
            </a:r>
            <a:r>
              <a:rPr lang="en-US" sz="1400" dirty="0"/>
              <a:t> Where </a:t>
            </a:r>
            <a:r>
              <a:rPr lang="en-US" sz="1400" dirty="0" err="1"/>
              <a:t>jBLoader</a:t>
            </a:r>
            <a:r>
              <a:rPr lang="en-US" sz="1400" dirty="0"/>
              <a:t> stores data.</a:t>
            </a:r>
          </a:p>
        </p:txBody>
      </p:sp>
      <p:sp>
        <p:nvSpPr>
          <p:cNvPr id="80" name="Date Placeholder 79">
            <a:extLst>
              <a:ext uri="{FF2B5EF4-FFF2-40B4-BE49-F238E27FC236}">
                <a16:creationId xmlns:a16="http://schemas.microsoft.com/office/drawing/2014/main" id="{89B287E3-94C4-8978-F875-2B9D48A3BEC3}"/>
              </a:ext>
            </a:extLst>
          </p:cNvPr>
          <p:cNvSpPr>
            <a:spLocks noGrp="1"/>
          </p:cNvSpPr>
          <p:nvPr>
            <p:ph type="dt" sz="half" idx="20"/>
          </p:nvPr>
        </p:nvSpPr>
        <p:spPr>
          <a:xfrm>
            <a:off x="838200" y="6356350"/>
            <a:ext cx="2743200" cy="365125"/>
          </a:xfrm>
        </p:spPr>
        <p:txBody>
          <a:bodyPr/>
          <a:lstStyle/>
          <a:p>
            <a:r>
              <a:rPr lang="en-US" sz="1400" dirty="0"/>
              <a:t>20XX</a:t>
            </a:r>
          </a:p>
        </p:txBody>
      </p:sp>
      <p:sp>
        <p:nvSpPr>
          <p:cNvPr id="81" name="Footer Placeholder 80">
            <a:extLst>
              <a:ext uri="{FF2B5EF4-FFF2-40B4-BE49-F238E27FC236}">
                <a16:creationId xmlns:a16="http://schemas.microsoft.com/office/drawing/2014/main" id="{787C48B5-CA27-4001-B936-CDE2F1DB801A}"/>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F50E34AD-7C59-2E89-C12F-8AAFDFA63633}"/>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13</a:t>
            </a:fld>
            <a:endParaRPr lang="en-US" sz="1400" dirty="0"/>
          </a:p>
        </p:txBody>
      </p:sp>
      <p:pic>
        <p:nvPicPr>
          <p:cNvPr id="30" name="Picture 29">
            <a:extLst>
              <a:ext uri="{FF2B5EF4-FFF2-40B4-BE49-F238E27FC236}">
                <a16:creationId xmlns:a16="http://schemas.microsoft.com/office/drawing/2014/main" id="{70795DCB-7774-2AF1-6FF7-8333291C3652}"/>
              </a:ext>
            </a:extLst>
          </p:cNvPr>
          <p:cNvPicPr>
            <a:picLocks noChangeAspect="1"/>
          </p:cNvPicPr>
          <p:nvPr/>
        </p:nvPicPr>
        <p:blipFill>
          <a:blip r:embed="rId2"/>
          <a:stretch>
            <a:fillRect/>
          </a:stretch>
        </p:blipFill>
        <p:spPr>
          <a:xfrm>
            <a:off x="275814" y="2927252"/>
            <a:ext cx="5578323" cy="2263336"/>
          </a:xfrm>
          <a:prstGeom prst="rect">
            <a:avLst/>
          </a:prstGeom>
        </p:spPr>
      </p:pic>
      <p:pic>
        <p:nvPicPr>
          <p:cNvPr id="32" name="Picture 31">
            <a:extLst>
              <a:ext uri="{FF2B5EF4-FFF2-40B4-BE49-F238E27FC236}">
                <a16:creationId xmlns:a16="http://schemas.microsoft.com/office/drawing/2014/main" id="{ACF58F43-C981-A22E-BAD6-0C33A93746C4}"/>
              </a:ext>
            </a:extLst>
          </p:cNvPr>
          <p:cNvPicPr>
            <a:picLocks noChangeAspect="1"/>
          </p:cNvPicPr>
          <p:nvPr/>
        </p:nvPicPr>
        <p:blipFill>
          <a:blip r:embed="rId3"/>
          <a:stretch>
            <a:fillRect/>
          </a:stretch>
        </p:blipFill>
        <p:spPr>
          <a:xfrm>
            <a:off x="6245941" y="2240768"/>
            <a:ext cx="5578323" cy="1546994"/>
          </a:xfrm>
          <a:prstGeom prst="rect">
            <a:avLst/>
          </a:prstGeom>
        </p:spPr>
      </p:pic>
      <p:pic>
        <p:nvPicPr>
          <p:cNvPr id="34" name="Picture 33">
            <a:extLst>
              <a:ext uri="{FF2B5EF4-FFF2-40B4-BE49-F238E27FC236}">
                <a16:creationId xmlns:a16="http://schemas.microsoft.com/office/drawing/2014/main" id="{37CB830C-012F-C7E2-62C4-419ADA349724}"/>
              </a:ext>
            </a:extLst>
          </p:cNvPr>
          <p:cNvPicPr>
            <a:picLocks noChangeAspect="1"/>
          </p:cNvPicPr>
          <p:nvPr/>
        </p:nvPicPr>
        <p:blipFill>
          <a:blip r:embed="rId4"/>
          <a:stretch>
            <a:fillRect/>
          </a:stretch>
        </p:blipFill>
        <p:spPr>
          <a:xfrm>
            <a:off x="6245941" y="3787762"/>
            <a:ext cx="5524979" cy="2857748"/>
          </a:xfrm>
          <a:prstGeom prst="rect">
            <a:avLst/>
          </a:prstGeom>
        </p:spPr>
      </p:pic>
    </p:spTree>
    <p:extLst>
      <p:ext uri="{BB962C8B-B14F-4D97-AF65-F5344CB8AC3E}">
        <p14:creationId xmlns:p14="http://schemas.microsoft.com/office/powerpoint/2010/main" val="3503986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609FC-1253-1890-2020-DF3B97B4042B}"/>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15915A53-DEED-4910-007E-8DBE0D25C043}"/>
              </a:ext>
            </a:extLst>
          </p:cNvPr>
          <p:cNvSpPr>
            <a:spLocks noGrp="1"/>
          </p:cNvSpPr>
          <p:nvPr>
            <p:ph type="body" sz="quarter" idx="19"/>
          </p:nvPr>
        </p:nvSpPr>
        <p:spPr>
          <a:xfrm>
            <a:off x="529106" y="352721"/>
            <a:ext cx="5029658" cy="2917148"/>
          </a:xfrm>
        </p:spPr>
        <p:txBody>
          <a:bodyPr>
            <a:noAutofit/>
          </a:bodyPr>
          <a:lstStyle/>
          <a:p>
            <a:pPr algn="l"/>
            <a:r>
              <a:rPr lang="en-US" b="1" dirty="0"/>
              <a:t>3. Email Configuration</a:t>
            </a:r>
          </a:p>
          <a:p>
            <a:pPr marL="457200" lvl="1" indent="0">
              <a:buNone/>
            </a:pPr>
            <a:r>
              <a:rPr lang="en-US" sz="1400" dirty="0"/>
              <a:t>Settings for email notifications.</a:t>
            </a:r>
          </a:p>
          <a:p>
            <a:pPr marL="457200" lvl="1" indent="0">
              <a:buNone/>
            </a:pPr>
            <a:r>
              <a:rPr lang="en-US" sz="1400" dirty="0"/>
              <a:t>Examples:</a:t>
            </a:r>
          </a:p>
          <a:p>
            <a:pPr lvl="2"/>
            <a:r>
              <a:rPr lang="en-US" sz="1000" dirty="0"/>
              <a:t>SMTP server </a:t>
            </a:r>
          </a:p>
          <a:p>
            <a:pPr lvl="2"/>
            <a:r>
              <a:rPr lang="en-US" sz="1000" dirty="0"/>
              <a:t>Sender email </a:t>
            </a:r>
          </a:p>
          <a:p>
            <a:pPr lvl="2"/>
            <a:r>
              <a:rPr lang="en-US" sz="1000" dirty="0"/>
              <a:t>Recipient emails </a:t>
            </a:r>
          </a:p>
          <a:p>
            <a:pPr lvl="2"/>
            <a:r>
              <a:rPr lang="en-US" sz="1000" dirty="0"/>
              <a:t>Success/failure alerts </a:t>
            </a:r>
          </a:p>
          <a:p>
            <a:pPr marL="457200" lvl="1" indent="0">
              <a:buNone/>
            </a:pPr>
            <a:r>
              <a:rPr lang="en-US" sz="1400" b="1" dirty="0"/>
              <a:t>Meaning:</a:t>
            </a:r>
            <a:r>
              <a:rPr lang="en-US" sz="1400" dirty="0"/>
              <a:t> Sends messages about jobs.</a:t>
            </a:r>
          </a:p>
          <a:p>
            <a:pPr algn="l"/>
            <a:endParaRPr lang="en-US" dirty="0"/>
          </a:p>
        </p:txBody>
      </p:sp>
      <p:sp>
        <p:nvSpPr>
          <p:cNvPr id="80" name="Date Placeholder 79">
            <a:extLst>
              <a:ext uri="{FF2B5EF4-FFF2-40B4-BE49-F238E27FC236}">
                <a16:creationId xmlns:a16="http://schemas.microsoft.com/office/drawing/2014/main" id="{59DD8E12-4107-824D-0505-896F61A58ACC}"/>
              </a:ext>
            </a:extLst>
          </p:cNvPr>
          <p:cNvSpPr>
            <a:spLocks noGrp="1"/>
          </p:cNvSpPr>
          <p:nvPr>
            <p:ph type="dt" sz="half" idx="20"/>
          </p:nvPr>
        </p:nvSpPr>
        <p:spPr>
          <a:xfrm>
            <a:off x="838200" y="6356350"/>
            <a:ext cx="2743200" cy="365125"/>
          </a:xfrm>
        </p:spPr>
        <p:txBody>
          <a:bodyPr/>
          <a:lstStyle/>
          <a:p>
            <a:r>
              <a:rPr lang="en-US" sz="1400" dirty="0"/>
              <a:t>20XX</a:t>
            </a:r>
          </a:p>
        </p:txBody>
      </p:sp>
      <p:sp>
        <p:nvSpPr>
          <p:cNvPr id="81" name="Footer Placeholder 80">
            <a:extLst>
              <a:ext uri="{FF2B5EF4-FFF2-40B4-BE49-F238E27FC236}">
                <a16:creationId xmlns:a16="http://schemas.microsoft.com/office/drawing/2014/main" id="{B2906AF1-9FFF-8B45-5110-D8F6A757D337}"/>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DB32F51E-CF2F-A8B0-E3A4-42CF6B2522E9}"/>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14</a:t>
            </a:fld>
            <a:endParaRPr lang="en-US" sz="1400" dirty="0"/>
          </a:p>
        </p:txBody>
      </p:sp>
      <p:sp>
        <p:nvSpPr>
          <p:cNvPr id="13" name="Text Placeholder 9">
            <a:extLst>
              <a:ext uri="{FF2B5EF4-FFF2-40B4-BE49-F238E27FC236}">
                <a16:creationId xmlns:a16="http://schemas.microsoft.com/office/drawing/2014/main" id="{49F2CCE6-12A4-7330-C967-F6DEB64C386A}"/>
              </a:ext>
            </a:extLst>
          </p:cNvPr>
          <p:cNvSpPr txBox="1">
            <a:spLocks/>
          </p:cNvSpPr>
          <p:nvPr/>
        </p:nvSpPr>
        <p:spPr>
          <a:xfrm>
            <a:off x="6260263" y="254053"/>
            <a:ext cx="5402631" cy="2812616"/>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4. Exception Handling</a:t>
            </a:r>
          </a:p>
          <a:p>
            <a:pPr marL="457200" lvl="1" indent="0">
              <a:buNone/>
            </a:pPr>
            <a:r>
              <a:rPr lang="en-US" sz="1400" dirty="0"/>
              <a:t>Rules for handling errors or bad data.</a:t>
            </a:r>
          </a:p>
          <a:p>
            <a:pPr marL="457200" lvl="1" indent="0">
              <a:buNone/>
            </a:pPr>
            <a:r>
              <a:rPr lang="en-US" sz="1400" dirty="0"/>
              <a:t>Examples:</a:t>
            </a:r>
          </a:p>
          <a:p>
            <a:pPr lvl="2"/>
            <a:r>
              <a:rPr lang="en-US" sz="1000" dirty="0"/>
              <a:t>Skip invalid rows </a:t>
            </a:r>
          </a:p>
          <a:p>
            <a:pPr lvl="2"/>
            <a:r>
              <a:rPr lang="en-US" sz="1000" dirty="0"/>
              <a:t>Log errors </a:t>
            </a:r>
          </a:p>
          <a:p>
            <a:pPr lvl="2"/>
            <a:r>
              <a:rPr lang="en-US" sz="1000" dirty="0"/>
              <a:t>Stop job on failure </a:t>
            </a:r>
          </a:p>
          <a:p>
            <a:pPr lvl="2"/>
            <a:r>
              <a:rPr lang="en-US" sz="1000" dirty="0"/>
              <a:t>Retry process </a:t>
            </a:r>
          </a:p>
          <a:p>
            <a:pPr marL="457200" lvl="1" indent="0">
              <a:buNone/>
            </a:pPr>
            <a:r>
              <a:rPr lang="en-US" sz="1400" b="1" dirty="0"/>
              <a:t>Meaning:</a:t>
            </a:r>
            <a:r>
              <a:rPr lang="en-US" sz="1400" dirty="0"/>
              <a:t> What the system does when something goes wrong.</a:t>
            </a:r>
          </a:p>
          <a:p>
            <a:pPr algn="l"/>
            <a:endParaRPr lang="en-US" dirty="0"/>
          </a:p>
        </p:txBody>
      </p:sp>
      <p:pic>
        <p:nvPicPr>
          <p:cNvPr id="10" name="Picture 9">
            <a:extLst>
              <a:ext uri="{FF2B5EF4-FFF2-40B4-BE49-F238E27FC236}">
                <a16:creationId xmlns:a16="http://schemas.microsoft.com/office/drawing/2014/main" id="{11EECEFD-5BE6-1593-DC02-C71590F23533}"/>
              </a:ext>
            </a:extLst>
          </p:cNvPr>
          <p:cNvPicPr>
            <a:picLocks noChangeAspect="1"/>
          </p:cNvPicPr>
          <p:nvPr/>
        </p:nvPicPr>
        <p:blipFill>
          <a:blip r:embed="rId2"/>
          <a:stretch>
            <a:fillRect/>
          </a:stretch>
        </p:blipFill>
        <p:spPr>
          <a:xfrm>
            <a:off x="161048" y="2421773"/>
            <a:ext cx="5570703" cy="2705334"/>
          </a:xfrm>
          <a:prstGeom prst="rect">
            <a:avLst/>
          </a:prstGeom>
        </p:spPr>
      </p:pic>
      <p:pic>
        <p:nvPicPr>
          <p:cNvPr id="12" name="Picture 11">
            <a:extLst>
              <a:ext uri="{FF2B5EF4-FFF2-40B4-BE49-F238E27FC236}">
                <a16:creationId xmlns:a16="http://schemas.microsoft.com/office/drawing/2014/main" id="{CFB13796-C88A-BFE0-6822-4F4C8AE07802}"/>
              </a:ext>
            </a:extLst>
          </p:cNvPr>
          <p:cNvPicPr>
            <a:picLocks noChangeAspect="1"/>
          </p:cNvPicPr>
          <p:nvPr/>
        </p:nvPicPr>
        <p:blipFill>
          <a:blip r:embed="rId3"/>
          <a:stretch>
            <a:fillRect/>
          </a:stretch>
        </p:blipFill>
        <p:spPr>
          <a:xfrm>
            <a:off x="5926822" y="2507543"/>
            <a:ext cx="6046879" cy="1861892"/>
          </a:xfrm>
          <a:prstGeom prst="rect">
            <a:avLst/>
          </a:prstGeom>
        </p:spPr>
      </p:pic>
    </p:spTree>
    <p:extLst>
      <p:ext uri="{BB962C8B-B14F-4D97-AF65-F5344CB8AC3E}">
        <p14:creationId xmlns:p14="http://schemas.microsoft.com/office/powerpoint/2010/main" val="869915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8CD88-08AF-BF94-9F01-C8858FBDD3B6}"/>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DADCC465-C37B-AFF2-27ED-8D759EDBB63E}"/>
              </a:ext>
            </a:extLst>
          </p:cNvPr>
          <p:cNvSpPr>
            <a:spLocks noGrp="1"/>
          </p:cNvSpPr>
          <p:nvPr>
            <p:ph type="body" sz="quarter" idx="15"/>
          </p:nvPr>
        </p:nvSpPr>
        <p:spPr>
          <a:xfrm>
            <a:off x="651484" y="182648"/>
            <a:ext cx="5202653" cy="2331952"/>
          </a:xfrm>
        </p:spPr>
        <p:txBody>
          <a:bodyPr>
            <a:noAutofit/>
          </a:bodyPr>
          <a:lstStyle/>
          <a:p>
            <a:pPr algn="l"/>
            <a:r>
              <a:rPr lang="en-US" b="1" dirty="0"/>
              <a:t>5. Reserved Keywords</a:t>
            </a:r>
          </a:p>
          <a:p>
            <a:pPr marL="457200" lvl="1" indent="0">
              <a:buNone/>
            </a:pPr>
            <a:r>
              <a:rPr lang="en-US" sz="1400" dirty="0"/>
              <a:t>Words that are special in databases/programming and should be handled carefully.</a:t>
            </a:r>
          </a:p>
          <a:p>
            <a:pPr marL="457200" lvl="1" indent="0">
              <a:buNone/>
            </a:pPr>
            <a:r>
              <a:rPr lang="en-US" sz="1400" dirty="0"/>
              <a:t>Examples:</a:t>
            </a:r>
          </a:p>
          <a:p>
            <a:pPr lvl="2"/>
            <a:r>
              <a:rPr lang="en-US" sz="1400" dirty="0"/>
              <a:t>SELECT </a:t>
            </a:r>
          </a:p>
          <a:p>
            <a:pPr lvl="2"/>
            <a:r>
              <a:rPr lang="en-US" sz="1400" dirty="0"/>
              <a:t>TABLE </a:t>
            </a:r>
          </a:p>
          <a:p>
            <a:pPr lvl="2"/>
            <a:r>
              <a:rPr lang="en-US" sz="1400" dirty="0"/>
              <a:t>ORDER </a:t>
            </a:r>
          </a:p>
          <a:p>
            <a:pPr lvl="2"/>
            <a:r>
              <a:rPr lang="en-US" sz="1400" dirty="0"/>
              <a:t>DATE </a:t>
            </a:r>
          </a:p>
          <a:p>
            <a:pPr marL="457200" lvl="1" indent="0">
              <a:buNone/>
            </a:pPr>
            <a:r>
              <a:rPr lang="en-US" sz="1400" dirty="0"/>
              <a:t>If a column name uses one of these, it may cause errors.</a:t>
            </a:r>
          </a:p>
          <a:p>
            <a:pPr marL="457200" lvl="1" indent="0">
              <a:buNone/>
            </a:pPr>
            <a:r>
              <a:rPr lang="en-US" sz="1400" b="1" dirty="0"/>
              <a:t>Meaning:</a:t>
            </a:r>
            <a:r>
              <a:rPr lang="en-US" sz="1400" dirty="0"/>
              <a:t> Protected words used by system/database.</a:t>
            </a:r>
          </a:p>
          <a:p>
            <a:pPr algn="l"/>
            <a:endParaRPr lang="en-US" dirty="0"/>
          </a:p>
          <a:p>
            <a:pPr algn="l"/>
            <a:endParaRPr lang="en-US" dirty="0"/>
          </a:p>
        </p:txBody>
      </p:sp>
      <p:sp>
        <p:nvSpPr>
          <p:cNvPr id="6" name="Text Placeholder 5">
            <a:extLst>
              <a:ext uri="{FF2B5EF4-FFF2-40B4-BE49-F238E27FC236}">
                <a16:creationId xmlns:a16="http://schemas.microsoft.com/office/drawing/2014/main" id="{D077C4CD-954E-4C28-89D8-0BE05B4334AB}"/>
              </a:ext>
            </a:extLst>
          </p:cNvPr>
          <p:cNvSpPr>
            <a:spLocks noGrp="1"/>
          </p:cNvSpPr>
          <p:nvPr>
            <p:ph type="body" sz="quarter" idx="17"/>
          </p:nvPr>
        </p:nvSpPr>
        <p:spPr>
          <a:xfrm>
            <a:off x="6137885" y="182648"/>
            <a:ext cx="5402631" cy="2439352"/>
          </a:xfrm>
        </p:spPr>
        <p:txBody>
          <a:bodyPr>
            <a:noAutofit/>
          </a:bodyPr>
          <a:lstStyle/>
          <a:p>
            <a:pPr algn="l"/>
            <a:r>
              <a:rPr lang="en-US" b="1" dirty="0"/>
              <a:t>6. Email Templates</a:t>
            </a:r>
          </a:p>
          <a:p>
            <a:pPr marL="457200" lvl="1" indent="0">
              <a:buNone/>
            </a:pPr>
            <a:r>
              <a:rPr lang="en-US" sz="1400" dirty="0"/>
              <a:t>Predefined message formats for emails.</a:t>
            </a:r>
          </a:p>
          <a:p>
            <a:pPr marL="457200" lvl="1" indent="0">
              <a:buNone/>
            </a:pPr>
            <a:r>
              <a:rPr lang="en-US" sz="1400" dirty="0"/>
              <a:t>Examples:</a:t>
            </a:r>
          </a:p>
          <a:p>
            <a:pPr lvl="2"/>
            <a:r>
              <a:rPr lang="en-US" sz="1000" dirty="0"/>
              <a:t>Job success email </a:t>
            </a:r>
          </a:p>
          <a:p>
            <a:pPr lvl="2"/>
            <a:r>
              <a:rPr lang="en-US" sz="1000" dirty="0"/>
              <a:t>Job failure email </a:t>
            </a:r>
          </a:p>
          <a:p>
            <a:pPr lvl="2"/>
            <a:r>
              <a:rPr lang="en-US" sz="1000" dirty="0"/>
              <a:t>Warning email </a:t>
            </a:r>
          </a:p>
          <a:p>
            <a:pPr marL="457200" lvl="1" indent="0">
              <a:buNone/>
            </a:pPr>
            <a:r>
              <a:rPr lang="en-US" sz="1400" dirty="0"/>
              <a:t>Instead of writing every time, the system uses templates.</a:t>
            </a:r>
          </a:p>
          <a:p>
            <a:pPr algn="l"/>
            <a:endParaRPr lang="en-US" dirty="0"/>
          </a:p>
          <a:p>
            <a:pPr algn="l"/>
            <a:endParaRPr lang="en-US" dirty="0"/>
          </a:p>
          <a:p>
            <a:pPr algn="l"/>
            <a:endParaRPr lang="en-US" sz="1400" dirty="0"/>
          </a:p>
        </p:txBody>
      </p:sp>
      <p:sp>
        <p:nvSpPr>
          <p:cNvPr id="80" name="Date Placeholder 79">
            <a:extLst>
              <a:ext uri="{FF2B5EF4-FFF2-40B4-BE49-F238E27FC236}">
                <a16:creationId xmlns:a16="http://schemas.microsoft.com/office/drawing/2014/main" id="{F8E3EF44-C158-B092-F17B-F814B614DD6B}"/>
              </a:ext>
            </a:extLst>
          </p:cNvPr>
          <p:cNvSpPr>
            <a:spLocks noGrp="1"/>
          </p:cNvSpPr>
          <p:nvPr>
            <p:ph type="dt" sz="half" idx="20"/>
          </p:nvPr>
        </p:nvSpPr>
        <p:spPr>
          <a:xfrm>
            <a:off x="838200" y="6356350"/>
            <a:ext cx="2743200" cy="365125"/>
          </a:xfrm>
        </p:spPr>
        <p:txBody>
          <a:bodyPr/>
          <a:lstStyle/>
          <a:p>
            <a:r>
              <a:rPr lang="en-US" sz="1400" dirty="0"/>
              <a:t>20XX</a:t>
            </a:r>
          </a:p>
        </p:txBody>
      </p:sp>
      <p:sp>
        <p:nvSpPr>
          <p:cNvPr id="81" name="Footer Placeholder 80">
            <a:extLst>
              <a:ext uri="{FF2B5EF4-FFF2-40B4-BE49-F238E27FC236}">
                <a16:creationId xmlns:a16="http://schemas.microsoft.com/office/drawing/2014/main" id="{30268B94-5980-6DB7-ED2E-B997FD8C2A1A}"/>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74E1E545-F176-49B8-4CA3-6521BBD01FB8}"/>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15</a:t>
            </a:fld>
            <a:endParaRPr lang="en-US" sz="1400" dirty="0"/>
          </a:p>
        </p:txBody>
      </p:sp>
      <p:sp>
        <p:nvSpPr>
          <p:cNvPr id="13" name="Text Placeholder 9">
            <a:extLst>
              <a:ext uri="{FF2B5EF4-FFF2-40B4-BE49-F238E27FC236}">
                <a16:creationId xmlns:a16="http://schemas.microsoft.com/office/drawing/2014/main" id="{F33164A9-CF62-B9EE-B3A6-F0D4942A2340}"/>
              </a:ext>
            </a:extLst>
          </p:cNvPr>
          <p:cNvSpPr txBox="1">
            <a:spLocks/>
          </p:cNvSpPr>
          <p:nvPr/>
        </p:nvSpPr>
        <p:spPr>
          <a:xfrm>
            <a:off x="6511317" y="3149653"/>
            <a:ext cx="5402631" cy="2812616"/>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dirty="0"/>
          </a:p>
        </p:txBody>
      </p:sp>
      <p:pic>
        <p:nvPicPr>
          <p:cNvPr id="3" name="Picture 2">
            <a:extLst>
              <a:ext uri="{FF2B5EF4-FFF2-40B4-BE49-F238E27FC236}">
                <a16:creationId xmlns:a16="http://schemas.microsoft.com/office/drawing/2014/main" id="{AEF45947-DEA8-78A0-2B15-019610328A45}"/>
              </a:ext>
            </a:extLst>
          </p:cNvPr>
          <p:cNvPicPr>
            <a:picLocks noChangeAspect="1"/>
          </p:cNvPicPr>
          <p:nvPr/>
        </p:nvPicPr>
        <p:blipFill>
          <a:blip r:embed="rId2"/>
          <a:stretch>
            <a:fillRect/>
          </a:stretch>
        </p:blipFill>
        <p:spPr>
          <a:xfrm>
            <a:off x="1273679" y="2832892"/>
            <a:ext cx="3817813" cy="2812616"/>
          </a:xfrm>
          <a:prstGeom prst="rect">
            <a:avLst/>
          </a:prstGeom>
        </p:spPr>
      </p:pic>
      <p:pic>
        <p:nvPicPr>
          <p:cNvPr id="7" name="Picture 6">
            <a:extLst>
              <a:ext uri="{FF2B5EF4-FFF2-40B4-BE49-F238E27FC236}">
                <a16:creationId xmlns:a16="http://schemas.microsoft.com/office/drawing/2014/main" id="{B475B66A-4458-E8FA-6D2B-23DA042C953D}"/>
              </a:ext>
            </a:extLst>
          </p:cNvPr>
          <p:cNvPicPr>
            <a:picLocks noChangeAspect="1"/>
          </p:cNvPicPr>
          <p:nvPr/>
        </p:nvPicPr>
        <p:blipFill>
          <a:blip r:embed="rId3"/>
          <a:srcRect r="6348"/>
          <a:stretch>
            <a:fillRect/>
          </a:stretch>
        </p:blipFill>
        <p:spPr>
          <a:xfrm>
            <a:off x="6137885" y="2514599"/>
            <a:ext cx="5822783" cy="2439351"/>
          </a:xfrm>
          <a:prstGeom prst="rect">
            <a:avLst/>
          </a:prstGeom>
        </p:spPr>
      </p:pic>
    </p:spTree>
    <p:extLst>
      <p:ext uri="{BB962C8B-B14F-4D97-AF65-F5344CB8AC3E}">
        <p14:creationId xmlns:p14="http://schemas.microsoft.com/office/powerpoint/2010/main" val="3147085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88C4-767C-77F0-1B3F-9384198F39A4}"/>
              </a:ext>
            </a:extLst>
          </p:cNvPr>
          <p:cNvSpPr>
            <a:spLocks noGrp="1"/>
          </p:cNvSpPr>
          <p:nvPr>
            <p:ph type="title"/>
          </p:nvPr>
        </p:nvSpPr>
        <p:spPr>
          <a:xfrm>
            <a:off x="838200" y="365125"/>
            <a:ext cx="10515600" cy="1325563"/>
          </a:xfrm>
        </p:spPr>
        <p:txBody>
          <a:bodyPr anchor="ctr">
            <a:normAutofit/>
          </a:bodyPr>
          <a:lstStyle/>
          <a:p>
            <a:r>
              <a:rPr lang="en-US" dirty="0"/>
              <a:t>MIGRATION</a:t>
            </a:r>
          </a:p>
        </p:txBody>
      </p:sp>
      <p:sp>
        <p:nvSpPr>
          <p:cNvPr id="3" name="Date Placeholder 2">
            <a:extLst>
              <a:ext uri="{FF2B5EF4-FFF2-40B4-BE49-F238E27FC236}">
                <a16:creationId xmlns:a16="http://schemas.microsoft.com/office/drawing/2014/main" id="{4F6653FC-187B-283F-8470-62FDFC4A1780}"/>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0542DF5B-F596-D900-BFC5-16DB20E3D332}"/>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5" name="Slide Number Placeholder 4">
            <a:extLst>
              <a:ext uri="{FF2B5EF4-FFF2-40B4-BE49-F238E27FC236}">
                <a16:creationId xmlns:a16="http://schemas.microsoft.com/office/drawing/2014/main" id="{1188CF4C-FFBE-E16A-2A69-AA869D097DF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16</a:t>
            </a:fld>
            <a:endParaRPr lang="en-US"/>
          </a:p>
        </p:txBody>
      </p:sp>
      <p:sp>
        <p:nvSpPr>
          <p:cNvPr id="6" name="Content Placeholder 5">
            <a:extLst>
              <a:ext uri="{FF2B5EF4-FFF2-40B4-BE49-F238E27FC236}">
                <a16:creationId xmlns:a16="http://schemas.microsoft.com/office/drawing/2014/main" id="{CF186548-1BA9-D3BC-46B7-7E54B83BFC8A}"/>
              </a:ext>
            </a:extLst>
          </p:cNvPr>
          <p:cNvSpPr>
            <a:spLocks noGrp="1"/>
          </p:cNvSpPr>
          <p:nvPr>
            <p:ph sz="quarter" idx="16"/>
          </p:nvPr>
        </p:nvSpPr>
        <p:spPr>
          <a:xfrm>
            <a:off x="838199" y="2136775"/>
            <a:ext cx="5162549" cy="3697288"/>
          </a:xfrm>
        </p:spPr>
        <p:txBody>
          <a:bodyPr>
            <a:normAutofit/>
          </a:bodyPr>
          <a:lstStyle/>
          <a:p>
            <a:r>
              <a:rPr lang="en-US" sz="2600"/>
              <a:t>For clients already using an older version of </a:t>
            </a:r>
            <a:r>
              <a:rPr lang="en-US" sz="2600" err="1"/>
              <a:t>jBLoader</a:t>
            </a:r>
            <a:r>
              <a:rPr lang="en-US" sz="2600"/>
              <a:t>, either the service version or the direct version, it is easy to migrate them to the </a:t>
            </a:r>
            <a:r>
              <a:rPr lang="en-US" sz="2600" err="1"/>
              <a:t>jBLoader</a:t>
            </a:r>
            <a:r>
              <a:rPr lang="en-US" sz="2600"/>
              <a:t> web-based version. The necessary components to be migrated from the older version are the packages, tasks, and exceptions.</a:t>
            </a:r>
            <a:br>
              <a:rPr lang="en-US" sz="2600"/>
            </a:br>
            <a:endParaRPr lang="en-US" sz="2600"/>
          </a:p>
        </p:txBody>
      </p:sp>
      <p:pic>
        <p:nvPicPr>
          <p:cNvPr id="8" name="Picture 7">
            <a:extLst>
              <a:ext uri="{FF2B5EF4-FFF2-40B4-BE49-F238E27FC236}">
                <a16:creationId xmlns:a16="http://schemas.microsoft.com/office/drawing/2014/main" id="{CC3CC931-0DC2-4F58-48E6-7E0623DE5E3B}"/>
              </a:ext>
            </a:extLst>
          </p:cNvPr>
          <p:cNvPicPr>
            <a:picLocks noChangeAspect="1"/>
          </p:cNvPicPr>
          <p:nvPr/>
        </p:nvPicPr>
        <p:blipFill>
          <a:blip r:embed="rId2"/>
          <a:srcRect r="18505" b="2"/>
          <a:stretch>
            <a:fillRect/>
          </a:stretch>
        </p:blipFill>
        <p:spPr>
          <a:xfrm>
            <a:off x="6191248" y="2136775"/>
            <a:ext cx="5162549" cy="3697288"/>
          </a:xfrm>
          <a:prstGeom prst="rect">
            <a:avLst/>
          </a:prstGeom>
          <a:noFill/>
        </p:spPr>
      </p:pic>
    </p:spTree>
    <p:extLst>
      <p:ext uri="{BB962C8B-B14F-4D97-AF65-F5344CB8AC3E}">
        <p14:creationId xmlns:p14="http://schemas.microsoft.com/office/powerpoint/2010/main" val="2981456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EDB0A-9ED6-3505-EB99-BEEB3CB5FBE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BB4163E6-BFBB-9CAC-B6D6-7864A8873286}"/>
              </a:ext>
            </a:extLst>
          </p:cNvPr>
          <p:cNvSpPr>
            <a:spLocks noGrp="1"/>
          </p:cNvSpPr>
          <p:nvPr>
            <p:ph type="body" sz="quarter" idx="19"/>
          </p:nvPr>
        </p:nvSpPr>
        <p:spPr>
          <a:xfrm>
            <a:off x="529106" y="352720"/>
            <a:ext cx="5029658" cy="3304879"/>
          </a:xfrm>
        </p:spPr>
        <p:txBody>
          <a:bodyPr>
            <a:noAutofit/>
          </a:bodyPr>
          <a:lstStyle/>
          <a:p>
            <a:pPr algn="l"/>
            <a:r>
              <a:rPr lang="en-US" b="1" dirty="0"/>
              <a:t>1. Package Migration</a:t>
            </a:r>
          </a:p>
          <a:p>
            <a:pPr marL="457200" lvl="1" indent="0">
              <a:buNone/>
            </a:pPr>
            <a:r>
              <a:rPr lang="en-US" sz="1400" b="1" dirty="0"/>
              <a:t>Packages</a:t>
            </a:r>
            <a:r>
              <a:rPr lang="en-US" sz="1400" dirty="0"/>
              <a:t> usually mean grouped ETL jobs, extraction definitions, workflows, or deployment units.</a:t>
            </a:r>
          </a:p>
          <a:p>
            <a:pPr marL="457200" lvl="1" indent="0">
              <a:buNone/>
            </a:pPr>
            <a:r>
              <a:rPr lang="en-US" sz="1400" dirty="0"/>
              <a:t>Example:</a:t>
            </a:r>
          </a:p>
          <a:p>
            <a:pPr lvl="2"/>
            <a:r>
              <a:rPr lang="en-US" sz="1000" dirty="0"/>
              <a:t>Daily Finance Package:</a:t>
            </a:r>
          </a:p>
          <a:p>
            <a:pPr lvl="2"/>
            <a:r>
              <a:rPr lang="en-US" sz="1000" dirty="0"/>
              <a:t>Extract accounts </a:t>
            </a:r>
          </a:p>
          <a:p>
            <a:pPr lvl="2"/>
            <a:r>
              <a:rPr lang="en-US" sz="1000" dirty="0"/>
              <a:t>Load transactions </a:t>
            </a:r>
          </a:p>
          <a:p>
            <a:pPr lvl="2"/>
            <a:r>
              <a:rPr lang="en-US" sz="1000" dirty="0"/>
              <a:t>Send report </a:t>
            </a:r>
          </a:p>
          <a:p>
            <a:pPr marL="457200" lvl="1" indent="0">
              <a:buNone/>
            </a:pPr>
            <a:r>
              <a:rPr lang="en-US" sz="1400" dirty="0"/>
              <a:t>So package migration = move existing job packages into new version.</a:t>
            </a:r>
          </a:p>
          <a:p>
            <a:pPr algn="l"/>
            <a:endParaRPr lang="en-US" dirty="0"/>
          </a:p>
        </p:txBody>
      </p:sp>
      <p:sp>
        <p:nvSpPr>
          <p:cNvPr id="80" name="Date Placeholder 79">
            <a:extLst>
              <a:ext uri="{FF2B5EF4-FFF2-40B4-BE49-F238E27FC236}">
                <a16:creationId xmlns:a16="http://schemas.microsoft.com/office/drawing/2014/main" id="{579C3C7B-F0C9-FAE5-D352-6068B457E316}"/>
              </a:ext>
            </a:extLst>
          </p:cNvPr>
          <p:cNvSpPr>
            <a:spLocks noGrp="1"/>
          </p:cNvSpPr>
          <p:nvPr>
            <p:ph type="dt" sz="half" idx="20"/>
          </p:nvPr>
        </p:nvSpPr>
        <p:spPr>
          <a:xfrm>
            <a:off x="838200" y="6356350"/>
            <a:ext cx="2743200" cy="365125"/>
          </a:xfrm>
        </p:spPr>
        <p:txBody>
          <a:bodyPr/>
          <a:lstStyle/>
          <a:p>
            <a:r>
              <a:rPr lang="en-US" sz="1400" dirty="0"/>
              <a:t>20XX</a:t>
            </a:r>
          </a:p>
        </p:txBody>
      </p:sp>
      <p:sp>
        <p:nvSpPr>
          <p:cNvPr id="81" name="Footer Placeholder 80">
            <a:extLst>
              <a:ext uri="{FF2B5EF4-FFF2-40B4-BE49-F238E27FC236}">
                <a16:creationId xmlns:a16="http://schemas.microsoft.com/office/drawing/2014/main" id="{1EA5CECB-E7C0-BFDD-EFAC-1047C1607139}"/>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83AB3E13-5165-9655-D1F7-A2503B699B49}"/>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17</a:t>
            </a:fld>
            <a:endParaRPr lang="en-US" sz="1400" dirty="0"/>
          </a:p>
        </p:txBody>
      </p:sp>
      <p:sp>
        <p:nvSpPr>
          <p:cNvPr id="13" name="Text Placeholder 9">
            <a:extLst>
              <a:ext uri="{FF2B5EF4-FFF2-40B4-BE49-F238E27FC236}">
                <a16:creationId xmlns:a16="http://schemas.microsoft.com/office/drawing/2014/main" id="{4EA113CD-48D8-1404-1799-D6EC13781D6A}"/>
              </a:ext>
            </a:extLst>
          </p:cNvPr>
          <p:cNvSpPr txBox="1">
            <a:spLocks/>
          </p:cNvSpPr>
          <p:nvPr/>
        </p:nvSpPr>
        <p:spPr>
          <a:xfrm>
            <a:off x="6260263" y="254053"/>
            <a:ext cx="5402631" cy="2812616"/>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2. Scheduler Migration</a:t>
            </a:r>
          </a:p>
          <a:p>
            <a:pPr marL="457200" lvl="1" indent="0">
              <a:buNone/>
            </a:pPr>
            <a:r>
              <a:rPr lang="en-US" sz="1400" b="1" dirty="0"/>
              <a:t>Scheduler</a:t>
            </a:r>
            <a:r>
              <a:rPr lang="en-US" sz="1400" dirty="0"/>
              <a:t> means job timings and automation rules.</a:t>
            </a:r>
          </a:p>
          <a:p>
            <a:pPr marL="457200" lvl="1" indent="0">
              <a:buNone/>
            </a:pPr>
            <a:r>
              <a:rPr lang="en-US" sz="1400" dirty="0"/>
              <a:t>Examples:</a:t>
            </a:r>
          </a:p>
          <a:p>
            <a:pPr lvl="2"/>
            <a:r>
              <a:rPr lang="en-US" sz="1000" dirty="0"/>
              <a:t>Run every day at 1:00 AM </a:t>
            </a:r>
          </a:p>
          <a:p>
            <a:pPr lvl="2"/>
            <a:r>
              <a:rPr lang="en-US" sz="1000" dirty="0"/>
              <a:t>Run every Friday </a:t>
            </a:r>
          </a:p>
          <a:p>
            <a:pPr lvl="2"/>
            <a:r>
              <a:rPr lang="en-US" sz="1000" dirty="0"/>
              <a:t>Run after another task finishes </a:t>
            </a:r>
          </a:p>
          <a:p>
            <a:pPr marL="457200" lvl="1" indent="0">
              <a:buNone/>
            </a:pPr>
            <a:r>
              <a:rPr lang="en-US" sz="1400" dirty="0"/>
              <a:t>Scheduler migration = keep old schedules in new system.</a:t>
            </a:r>
          </a:p>
          <a:p>
            <a:pPr algn="l"/>
            <a:endParaRPr lang="en-US" dirty="0"/>
          </a:p>
        </p:txBody>
      </p:sp>
      <p:pic>
        <p:nvPicPr>
          <p:cNvPr id="3" name="Picture 2">
            <a:extLst>
              <a:ext uri="{FF2B5EF4-FFF2-40B4-BE49-F238E27FC236}">
                <a16:creationId xmlns:a16="http://schemas.microsoft.com/office/drawing/2014/main" id="{EA6D0EC2-CBB8-437F-90C4-F5FF136A3265}"/>
              </a:ext>
            </a:extLst>
          </p:cNvPr>
          <p:cNvPicPr>
            <a:picLocks noChangeAspect="1"/>
          </p:cNvPicPr>
          <p:nvPr/>
        </p:nvPicPr>
        <p:blipFill>
          <a:blip r:embed="rId2"/>
          <a:stretch>
            <a:fillRect/>
          </a:stretch>
        </p:blipFill>
        <p:spPr>
          <a:xfrm>
            <a:off x="678013" y="2826930"/>
            <a:ext cx="4831303" cy="2598509"/>
          </a:xfrm>
          <a:prstGeom prst="rect">
            <a:avLst/>
          </a:prstGeom>
        </p:spPr>
      </p:pic>
      <p:pic>
        <p:nvPicPr>
          <p:cNvPr id="5" name="Picture 4">
            <a:extLst>
              <a:ext uri="{FF2B5EF4-FFF2-40B4-BE49-F238E27FC236}">
                <a16:creationId xmlns:a16="http://schemas.microsoft.com/office/drawing/2014/main" id="{E36C6CC5-40DF-DAC8-ED2F-05C307A1D05C}"/>
              </a:ext>
            </a:extLst>
          </p:cNvPr>
          <p:cNvPicPr>
            <a:picLocks noChangeAspect="1"/>
          </p:cNvPicPr>
          <p:nvPr/>
        </p:nvPicPr>
        <p:blipFill>
          <a:blip r:embed="rId3"/>
          <a:stretch>
            <a:fillRect/>
          </a:stretch>
        </p:blipFill>
        <p:spPr>
          <a:xfrm>
            <a:off x="6511102" y="2636416"/>
            <a:ext cx="4984719" cy="3037563"/>
          </a:xfrm>
          <a:prstGeom prst="rect">
            <a:avLst/>
          </a:prstGeom>
        </p:spPr>
      </p:pic>
    </p:spTree>
    <p:extLst>
      <p:ext uri="{BB962C8B-B14F-4D97-AF65-F5344CB8AC3E}">
        <p14:creationId xmlns:p14="http://schemas.microsoft.com/office/powerpoint/2010/main" val="428678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3DD58-9777-EA7D-E617-D0EA4C89044D}"/>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0725795F-84F7-D4D8-FCA3-FAB0053FE605}"/>
              </a:ext>
            </a:extLst>
          </p:cNvPr>
          <p:cNvSpPr>
            <a:spLocks noGrp="1"/>
          </p:cNvSpPr>
          <p:nvPr>
            <p:ph type="body" sz="quarter" idx="19"/>
          </p:nvPr>
        </p:nvSpPr>
        <p:spPr>
          <a:xfrm>
            <a:off x="454461" y="1608095"/>
            <a:ext cx="5029658" cy="2917148"/>
          </a:xfrm>
        </p:spPr>
        <p:txBody>
          <a:bodyPr>
            <a:noAutofit/>
          </a:bodyPr>
          <a:lstStyle/>
          <a:p>
            <a:pPr algn="l"/>
            <a:r>
              <a:rPr lang="en-US" sz="1800" b="1" dirty="0"/>
              <a:t>3. Exception Migration</a:t>
            </a:r>
          </a:p>
          <a:p>
            <a:pPr marL="457200" lvl="1" indent="0">
              <a:buNone/>
            </a:pPr>
            <a:r>
              <a:rPr lang="en-US" sz="1800" b="1" dirty="0"/>
              <a:t>Exceptions</a:t>
            </a:r>
            <a:r>
              <a:rPr lang="en-US" sz="1800" dirty="0"/>
              <a:t> mean saved error handling rules or exception records.</a:t>
            </a:r>
          </a:p>
          <a:p>
            <a:pPr marL="457200" lvl="1" indent="0">
              <a:buNone/>
            </a:pPr>
            <a:r>
              <a:rPr lang="en-US" sz="1800" dirty="0"/>
              <a:t>Examples:</a:t>
            </a:r>
          </a:p>
          <a:p>
            <a:pPr lvl="2"/>
            <a:r>
              <a:rPr lang="en-US" sz="1800" dirty="0"/>
              <a:t>Skip duplicate rows </a:t>
            </a:r>
          </a:p>
          <a:p>
            <a:pPr lvl="2"/>
            <a:r>
              <a:rPr lang="en-US" sz="1800" dirty="0"/>
              <a:t>Log failed records </a:t>
            </a:r>
          </a:p>
          <a:p>
            <a:pPr lvl="2"/>
            <a:r>
              <a:rPr lang="en-US" sz="1800" dirty="0"/>
              <a:t>Notify admin on error </a:t>
            </a:r>
          </a:p>
          <a:p>
            <a:pPr marL="457200" lvl="1" indent="0">
              <a:buNone/>
            </a:pPr>
            <a:r>
              <a:rPr lang="en-US" sz="1800" dirty="0"/>
              <a:t>Exception migration = preserve those rules/history</a:t>
            </a:r>
          </a:p>
          <a:p>
            <a:pPr algn="l"/>
            <a:endParaRPr lang="en-US" sz="1800" dirty="0"/>
          </a:p>
        </p:txBody>
      </p:sp>
      <p:sp>
        <p:nvSpPr>
          <p:cNvPr id="80" name="Date Placeholder 79">
            <a:extLst>
              <a:ext uri="{FF2B5EF4-FFF2-40B4-BE49-F238E27FC236}">
                <a16:creationId xmlns:a16="http://schemas.microsoft.com/office/drawing/2014/main" id="{ACC1F2BE-1EE2-1909-19D3-C159966494A8}"/>
              </a:ext>
            </a:extLst>
          </p:cNvPr>
          <p:cNvSpPr>
            <a:spLocks noGrp="1"/>
          </p:cNvSpPr>
          <p:nvPr>
            <p:ph type="dt" sz="half" idx="20"/>
          </p:nvPr>
        </p:nvSpPr>
        <p:spPr>
          <a:xfrm>
            <a:off x="838200" y="6356350"/>
            <a:ext cx="2743200" cy="365125"/>
          </a:xfrm>
        </p:spPr>
        <p:txBody>
          <a:bodyPr/>
          <a:lstStyle/>
          <a:p>
            <a:r>
              <a:rPr lang="en-US" sz="1400" dirty="0"/>
              <a:t>20XX</a:t>
            </a:r>
          </a:p>
        </p:txBody>
      </p:sp>
      <p:sp>
        <p:nvSpPr>
          <p:cNvPr id="81" name="Footer Placeholder 80">
            <a:extLst>
              <a:ext uri="{FF2B5EF4-FFF2-40B4-BE49-F238E27FC236}">
                <a16:creationId xmlns:a16="http://schemas.microsoft.com/office/drawing/2014/main" id="{49CE4A2F-3F44-51B1-BF67-51A59D21F726}"/>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420D9D7B-A927-2ED0-C36B-471E19F04824}"/>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18</a:t>
            </a:fld>
            <a:endParaRPr lang="en-US" sz="1400" dirty="0"/>
          </a:p>
        </p:txBody>
      </p:sp>
      <p:sp>
        <p:nvSpPr>
          <p:cNvPr id="13" name="Text Placeholder 9">
            <a:extLst>
              <a:ext uri="{FF2B5EF4-FFF2-40B4-BE49-F238E27FC236}">
                <a16:creationId xmlns:a16="http://schemas.microsoft.com/office/drawing/2014/main" id="{D6A48CF0-2DEA-24E3-E6E5-1743898DCDC1}"/>
              </a:ext>
            </a:extLst>
          </p:cNvPr>
          <p:cNvSpPr txBox="1">
            <a:spLocks/>
          </p:cNvSpPr>
          <p:nvPr/>
        </p:nvSpPr>
        <p:spPr>
          <a:xfrm>
            <a:off x="6260263" y="254053"/>
            <a:ext cx="5402631" cy="2812616"/>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dirty="0"/>
          </a:p>
        </p:txBody>
      </p:sp>
      <p:pic>
        <p:nvPicPr>
          <p:cNvPr id="3" name="Picture 2">
            <a:extLst>
              <a:ext uri="{FF2B5EF4-FFF2-40B4-BE49-F238E27FC236}">
                <a16:creationId xmlns:a16="http://schemas.microsoft.com/office/drawing/2014/main" id="{5FFC2242-AC6C-D1B1-9719-993C8FC2FC3D}"/>
              </a:ext>
            </a:extLst>
          </p:cNvPr>
          <p:cNvPicPr>
            <a:picLocks noChangeAspect="1"/>
          </p:cNvPicPr>
          <p:nvPr/>
        </p:nvPicPr>
        <p:blipFill>
          <a:blip r:embed="rId2"/>
          <a:stretch>
            <a:fillRect/>
          </a:stretch>
        </p:blipFill>
        <p:spPr>
          <a:xfrm>
            <a:off x="6500698" y="1521955"/>
            <a:ext cx="5521746" cy="2917148"/>
          </a:xfrm>
          <a:prstGeom prst="rect">
            <a:avLst/>
          </a:prstGeom>
        </p:spPr>
      </p:pic>
    </p:spTree>
    <p:extLst>
      <p:ext uri="{BB962C8B-B14F-4D97-AF65-F5344CB8AC3E}">
        <p14:creationId xmlns:p14="http://schemas.microsoft.com/office/powerpoint/2010/main" val="3495427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C9060-B2B3-C590-8107-9B342951DFD1}"/>
              </a:ext>
            </a:extLst>
          </p:cNvPr>
          <p:cNvSpPr>
            <a:spLocks noGrp="1"/>
          </p:cNvSpPr>
          <p:nvPr>
            <p:ph type="title"/>
          </p:nvPr>
        </p:nvSpPr>
        <p:spPr>
          <a:xfrm>
            <a:off x="838200" y="365125"/>
            <a:ext cx="10515600" cy="1325563"/>
          </a:xfrm>
        </p:spPr>
        <p:txBody>
          <a:bodyPr anchor="ctr">
            <a:normAutofit/>
          </a:bodyPr>
          <a:lstStyle/>
          <a:p>
            <a:r>
              <a:rPr lang="en-US" dirty="0"/>
              <a:t>Metadata</a:t>
            </a:r>
          </a:p>
        </p:txBody>
      </p:sp>
      <p:sp>
        <p:nvSpPr>
          <p:cNvPr id="3" name="Date Placeholder 2">
            <a:extLst>
              <a:ext uri="{FF2B5EF4-FFF2-40B4-BE49-F238E27FC236}">
                <a16:creationId xmlns:a16="http://schemas.microsoft.com/office/drawing/2014/main" id="{7F073545-6F75-F0A7-7CB1-FFD18A4756F8}"/>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14B886E8-8EA2-94D9-671E-BA13EF55D297}"/>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5" name="Slide Number Placeholder 4">
            <a:extLst>
              <a:ext uri="{FF2B5EF4-FFF2-40B4-BE49-F238E27FC236}">
                <a16:creationId xmlns:a16="http://schemas.microsoft.com/office/drawing/2014/main" id="{3C88B057-2A49-C24C-3459-DDB7E347994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19</a:t>
            </a:fld>
            <a:endParaRPr lang="en-US"/>
          </a:p>
        </p:txBody>
      </p:sp>
      <p:sp>
        <p:nvSpPr>
          <p:cNvPr id="6" name="Content Placeholder 5">
            <a:extLst>
              <a:ext uri="{FF2B5EF4-FFF2-40B4-BE49-F238E27FC236}">
                <a16:creationId xmlns:a16="http://schemas.microsoft.com/office/drawing/2014/main" id="{88D7A1C3-E8D8-B7CC-EF70-5F00AB487694}"/>
              </a:ext>
            </a:extLst>
          </p:cNvPr>
          <p:cNvSpPr>
            <a:spLocks noGrp="1"/>
          </p:cNvSpPr>
          <p:nvPr>
            <p:ph sz="quarter" idx="16"/>
          </p:nvPr>
        </p:nvSpPr>
        <p:spPr>
          <a:xfrm>
            <a:off x="838199" y="2136775"/>
            <a:ext cx="5162549" cy="3697288"/>
          </a:xfrm>
        </p:spPr>
        <p:txBody>
          <a:bodyPr>
            <a:normAutofit/>
          </a:bodyPr>
          <a:lstStyle/>
          <a:p>
            <a:r>
              <a:rPr lang="en-US" dirty="0"/>
              <a:t>This is the main section for extracting the table structure of all available tables in T24 and updating it in the local database. It also allows you to set up the required tables to be extracted and their corresponding fields.</a:t>
            </a:r>
            <a:br>
              <a:rPr lang="en-US" dirty="0"/>
            </a:br>
            <a:endParaRPr lang="en-US" dirty="0"/>
          </a:p>
        </p:txBody>
      </p:sp>
      <p:pic>
        <p:nvPicPr>
          <p:cNvPr id="10" name="Picture 9">
            <a:extLst>
              <a:ext uri="{FF2B5EF4-FFF2-40B4-BE49-F238E27FC236}">
                <a16:creationId xmlns:a16="http://schemas.microsoft.com/office/drawing/2014/main" id="{49AB54B5-DBE8-367B-6DF6-497AF6AE47F6}"/>
              </a:ext>
            </a:extLst>
          </p:cNvPr>
          <p:cNvPicPr>
            <a:picLocks noChangeAspect="1"/>
          </p:cNvPicPr>
          <p:nvPr/>
        </p:nvPicPr>
        <p:blipFill>
          <a:blip r:embed="rId2"/>
          <a:srcRect r="13856" b="-1"/>
          <a:stretch>
            <a:fillRect/>
          </a:stretch>
        </p:blipFill>
        <p:spPr>
          <a:xfrm>
            <a:off x="6191248" y="2136775"/>
            <a:ext cx="5162549" cy="3697288"/>
          </a:xfrm>
          <a:prstGeom prst="rect">
            <a:avLst/>
          </a:prstGeom>
          <a:noFill/>
        </p:spPr>
      </p:pic>
    </p:spTree>
    <p:extLst>
      <p:ext uri="{BB962C8B-B14F-4D97-AF65-F5344CB8AC3E}">
        <p14:creationId xmlns:p14="http://schemas.microsoft.com/office/powerpoint/2010/main" val="428058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B45DC-FB13-8420-3513-C6AD1AB3BB9F}"/>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0929135C-C571-FD54-7512-0CD920B00958}"/>
              </a:ext>
            </a:extLst>
          </p:cNvPr>
          <p:cNvSpPr>
            <a:spLocks noGrp="1"/>
          </p:cNvSpPr>
          <p:nvPr>
            <p:ph type="body" sz="quarter" idx="15"/>
          </p:nvPr>
        </p:nvSpPr>
        <p:spPr>
          <a:xfrm>
            <a:off x="651484" y="182648"/>
            <a:ext cx="5202653" cy="4511272"/>
          </a:xfrm>
        </p:spPr>
        <p:txBody>
          <a:bodyPr>
            <a:noAutofit/>
          </a:bodyPr>
          <a:lstStyle/>
          <a:p>
            <a:pPr algn="l"/>
            <a:r>
              <a:rPr lang="en-US" b="1" dirty="0"/>
              <a:t>1. Metadata Update</a:t>
            </a:r>
          </a:p>
          <a:p>
            <a:pPr marL="457200" lvl="1" indent="0">
              <a:buNone/>
            </a:pPr>
            <a:r>
              <a:rPr lang="en-US" sz="1400" b="1" dirty="0"/>
              <a:t>Meaning:</a:t>
            </a:r>
          </a:p>
          <a:p>
            <a:pPr marL="914400" lvl="2" indent="0">
              <a:buNone/>
            </a:pPr>
            <a:r>
              <a:rPr lang="en-US" sz="1000" dirty="0"/>
              <a:t>Refreshing or synchronizing table structures from the source system (like Temenos T24) into </a:t>
            </a:r>
            <a:r>
              <a:rPr lang="en-US" sz="1000" dirty="0" err="1"/>
              <a:t>jBLoader</a:t>
            </a:r>
            <a:r>
              <a:rPr lang="en-US" sz="1000" dirty="0"/>
              <a:t>.</a:t>
            </a:r>
          </a:p>
          <a:p>
            <a:pPr marL="457200" lvl="1" indent="0">
              <a:buNone/>
            </a:pPr>
            <a:r>
              <a:rPr lang="en-US" sz="1400" b="1" dirty="0"/>
              <a:t>Why Needed:</a:t>
            </a:r>
          </a:p>
          <a:p>
            <a:pPr marL="914400" lvl="2" indent="0">
              <a:buNone/>
            </a:pPr>
            <a:r>
              <a:rPr lang="en-US" sz="1000" dirty="0"/>
              <a:t>If the source database changes, </a:t>
            </a:r>
            <a:r>
              <a:rPr lang="en-US" sz="1000" dirty="0" err="1"/>
              <a:t>jBLoader</a:t>
            </a:r>
            <a:r>
              <a:rPr lang="en-US" sz="1000" dirty="0"/>
              <a:t> must know.</a:t>
            </a:r>
          </a:p>
          <a:p>
            <a:pPr marL="457200" lvl="1" indent="0">
              <a:buNone/>
            </a:pPr>
            <a:r>
              <a:rPr lang="en-US" sz="1400" dirty="0"/>
              <a:t>Examples:</a:t>
            </a:r>
          </a:p>
          <a:p>
            <a:pPr marL="914400" lvl="2" indent="0">
              <a:buNone/>
            </a:pPr>
            <a:r>
              <a:rPr lang="en-US" sz="1000" dirty="0"/>
              <a:t>New table added </a:t>
            </a:r>
          </a:p>
          <a:p>
            <a:pPr marL="914400" lvl="2" indent="0">
              <a:buNone/>
            </a:pPr>
            <a:r>
              <a:rPr lang="en-US" sz="1000" dirty="0"/>
              <a:t>New column added </a:t>
            </a:r>
          </a:p>
          <a:p>
            <a:pPr marL="914400" lvl="2" indent="0">
              <a:buNone/>
            </a:pPr>
            <a:r>
              <a:rPr lang="en-US" sz="1000" dirty="0"/>
              <a:t>Column datatype changed </a:t>
            </a:r>
          </a:p>
          <a:p>
            <a:pPr marL="914400" lvl="2" indent="0">
              <a:buNone/>
            </a:pPr>
            <a:r>
              <a:rPr lang="en-US" sz="1000" dirty="0"/>
              <a:t>Field removed </a:t>
            </a:r>
          </a:p>
          <a:p>
            <a:pPr marL="457200" lvl="1" indent="0">
              <a:buNone/>
            </a:pPr>
            <a:r>
              <a:rPr lang="en-US" sz="1400" b="1" dirty="0"/>
              <a:t>Example:</a:t>
            </a:r>
          </a:p>
          <a:p>
            <a:pPr marL="914400" lvl="2" indent="0">
              <a:buNone/>
            </a:pPr>
            <a:r>
              <a:rPr lang="en-US" sz="1000" dirty="0"/>
              <a:t>T24 adds field EMAIL to CUSTOMER table.</a:t>
            </a:r>
            <a:br>
              <a:rPr lang="en-US" sz="1000" dirty="0"/>
            </a:br>
            <a:r>
              <a:rPr lang="en-US" sz="1000" dirty="0"/>
              <a:t>Metadata Update refreshes </a:t>
            </a:r>
            <a:r>
              <a:rPr lang="en-US" sz="1000" dirty="0" err="1"/>
              <a:t>jBLoader</a:t>
            </a:r>
            <a:r>
              <a:rPr lang="en-US" sz="1000" dirty="0"/>
              <a:t> so it can see that field.</a:t>
            </a:r>
          </a:p>
          <a:p>
            <a:pPr marL="457200" lvl="1" indent="0">
              <a:buNone/>
            </a:pPr>
            <a:r>
              <a:rPr lang="en-US" sz="1400" b="1" dirty="0"/>
              <a:t>Easy Answer:</a:t>
            </a:r>
          </a:p>
          <a:p>
            <a:pPr marL="914400" lvl="2" indent="0">
              <a:buNone/>
            </a:pPr>
            <a:r>
              <a:rPr lang="en-US" sz="1000" dirty="0"/>
              <a:t>Metadata Update keeps </a:t>
            </a:r>
            <a:r>
              <a:rPr lang="en-US" sz="1000" dirty="0" err="1"/>
              <a:t>jBLoader</a:t>
            </a:r>
            <a:r>
              <a:rPr lang="en-US" sz="1000" dirty="0"/>
              <a:t> aligned with the latest source database structure.</a:t>
            </a:r>
          </a:p>
          <a:p>
            <a:pPr algn="l"/>
            <a:endParaRPr lang="en-US" dirty="0"/>
          </a:p>
        </p:txBody>
      </p:sp>
      <p:sp>
        <p:nvSpPr>
          <p:cNvPr id="6" name="Text Placeholder 5">
            <a:extLst>
              <a:ext uri="{FF2B5EF4-FFF2-40B4-BE49-F238E27FC236}">
                <a16:creationId xmlns:a16="http://schemas.microsoft.com/office/drawing/2014/main" id="{17C9BD5E-7F4A-1CAF-F9D3-302E25C76D96}"/>
              </a:ext>
            </a:extLst>
          </p:cNvPr>
          <p:cNvSpPr>
            <a:spLocks noGrp="1"/>
          </p:cNvSpPr>
          <p:nvPr>
            <p:ph type="body" sz="quarter" idx="17"/>
          </p:nvPr>
        </p:nvSpPr>
        <p:spPr>
          <a:xfrm>
            <a:off x="6137885" y="182648"/>
            <a:ext cx="5402631" cy="4257272"/>
          </a:xfrm>
        </p:spPr>
        <p:txBody>
          <a:bodyPr>
            <a:noAutofit/>
          </a:bodyPr>
          <a:lstStyle/>
          <a:p>
            <a:pPr algn="l"/>
            <a:r>
              <a:rPr lang="en-US" b="1" dirty="0"/>
              <a:t>2. Packages</a:t>
            </a:r>
          </a:p>
          <a:p>
            <a:pPr marL="457200" lvl="1" indent="0">
              <a:buNone/>
            </a:pPr>
            <a:r>
              <a:rPr lang="en-US" sz="1400" b="1" dirty="0"/>
              <a:t>Meaning:</a:t>
            </a:r>
          </a:p>
          <a:p>
            <a:pPr marL="914400" lvl="2" indent="0">
              <a:buNone/>
            </a:pPr>
            <a:r>
              <a:rPr lang="en-US" sz="1000" dirty="0"/>
              <a:t>A </a:t>
            </a:r>
            <a:r>
              <a:rPr lang="en-US" sz="1000" b="1" dirty="0"/>
              <a:t>package</a:t>
            </a:r>
            <a:r>
              <a:rPr lang="en-US" sz="1000" dirty="0"/>
              <a:t> is a collection of related extraction/load tasks grouped together.</a:t>
            </a:r>
          </a:p>
          <a:p>
            <a:pPr marL="914400" lvl="2" indent="0">
              <a:buNone/>
            </a:pPr>
            <a:r>
              <a:rPr lang="en-US" sz="1000" dirty="0"/>
              <a:t>Instead of running many jobs separately, you run </a:t>
            </a:r>
            <a:r>
              <a:rPr lang="en-US" sz="1000" dirty="0" err="1"/>
              <a:t>onepackage</a:t>
            </a:r>
            <a:r>
              <a:rPr lang="en-US" sz="1000" dirty="0"/>
              <a:t>.</a:t>
            </a:r>
          </a:p>
          <a:p>
            <a:pPr marL="457200" lvl="1" indent="0">
              <a:buNone/>
            </a:pPr>
            <a:r>
              <a:rPr lang="en-US" sz="1400" b="1" dirty="0"/>
              <a:t>Example Package:</a:t>
            </a:r>
          </a:p>
          <a:p>
            <a:pPr marL="914400" lvl="2" indent="0">
              <a:buNone/>
            </a:pPr>
            <a:r>
              <a:rPr lang="en-US" sz="1000" b="1" dirty="0"/>
              <a:t>Daily Reporting Package</a:t>
            </a:r>
            <a:endParaRPr lang="en-US" sz="1000" dirty="0"/>
          </a:p>
          <a:p>
            <a:pPr marL="914400" lvl="2" indent="0">
              <a:buNone/>
            </a:pPr>
            <a:r>
              <a:rPr lang="en-US" sz="1000" dirty="0"/>
              <a:t>Extract CUSTOMER </a:t>
            </a:r>
          </a:p>
          <a:p>
            <a:pPr marL="914400" lvl="2" indent="0">
              <a:buNone/>
            </a:pPr>
            <a:r>
              <a:rPr lang="en-US" sz="1000" dirty="0"/>
              <a:t>Extract ACCOUNT </a:t>
            </a:r>
          </a:p>
          <a:p>
            <a:pPr marL="914400" lvl="2" indent="0">
              <a:buNone/>
            </a:pPr>
            <a:r>
              <a:rPr lang="en-US" sz="1000" dirty="0"/>
              <a:t>Extract TRANSACTION </a:t>
            </a:r>
          </a:p>
          <a:p>
            <a:pPr marL="914400" lvl="2" indent="0">
              <a:buNone/>
            </a:pPr>
            <a:r>
              <a:rPr lang="en-US" sz="1000" dirty="0"/>
              <a:t>Load reporting tables </a:t>
            </a:r>
          </a:p>
          <a:p>
            <a:pPr marL="914400" lvl="2" indent="0">
              <a:buNone/>
            </a:pPr>
            <a:r>
              <a:rPr lang="en-US" sz="1000" dirty="0"/>
              <a:t>Send completion email </a:t>
            </a:r>
          </a:p>
          <a:p>
            <a:pPr marL="457200" lvl="1" indent="0">
              <a:buNone/>
            </a:pPr>
            <a:r>
              <a:rPr lang="en-US" sz="1400" b="1" dirty="0"/>
              <a:t>Why Useful:</a:t>
            </a:r>
          </a:p>
          <a:p>
            <a:pPr marL="914400" lvl="2" indent="0">
              <a:buNone/>
            </a:pPr>
            <a:r>
              <a:rPr lang="en-US" sz="1000" dirty="0"/>
              <a:t>Better organization </a:t>
            </a:r>
          </a:p>
          <a:p>
            <a:pPr marL="914400" lvl="2" indent="0">
              <a:buNone/>
            </a:pPr>
            <a:r>
              <a:rPr lang="en-US" sz="1000" dirty="0"/>
              <a:t>Easier scheduling </a:t>
            </a:r>
          </a:p>
          <a:p>
            <a:pPr marL="914400" lvl="2" indent="0">
              <a:buNone/>
            </a:pPr>
            <a:r>
              <a:rPr lang="en-US" sz="1000" dirty="0"/>
              <a:t>One-click execution </a:t>
            </a:r>
          </a:p>
          <a:p>
            <a:pPr marL="914400" lvl="2" indent="0">
              <a:buNone/>
            </a:pPr>
            <a:r>
              <a:rPr lang="en-US" sz="1000" dirty="0"/>
              <a:t>Process dependencies </a:t>
            </a:r>
          </a:p>
          <a:p>
            <a:pPr marL="457200" lvl="1" indent="0">
              <a:buNone/>
            </a:pPr>
            <a:r>
              <a:rPr lang="en-US" sz="1400" b="1" dirty="0"/>
              <a:t>Easy Answer:</a:t>
            </a:r>
          </a:p>
          <a:p>
            <a:pPr marL="914400" lvl="2" indent="0">
              <a:buNone/>
            </a:pPr>
            <a:r>
              <a:rPr lang="en-US" sz="1000" dirty="0"/>
              <a:t>Packages are grouped jobs or workflows executed together.</a:t>
            </a:r>
          </a:p>
          <a:p>
            <a:pPr algn="l"/>
            <a:endParaRPr lang="en-US" sz="1400" dirty="0"/>
          </a:p>
        </p:txBody>
      </p:sp>
      <p:sp>
        <p:nvSpPr>
          <p:cNvPr id="82" name="Slide Number Placeholder 81">
            <a:extLst>
              <a:ext uri="{FF2B5EF4-FFF2-40B4-BE49-F238E27FC236}">
                <a16:creationId xmlns:a16="http://schemas.microsoft.com/office/drawing/2014/main" id="{A4380643-A8D2-7C4F-F595-333AACF8CADF}"/>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20</a:t>
            </a:fld>
            <a:endParaRPr lang="en-US" sz="1400" dirty="0"/>
          </a:p>
        </p:txBody>
      </p:sp>
      <p:pic>
        <p:nvPicPr>
          <p:cNvPr id="3" name="Picture 2">
            <a:extLst>
              <a:ext uri="{FF2B5EF4-FFF2-40B4-BE49-F238E27FC236}">
                <a16:creationId xmlns:a16="http://schemas.microsoft.com/office/drawing/2014/main" id="{E50C4409-273F-D977-FCE5-B70229F0FC44}"/>
              </a:ext>
            </a:extLst>
          </p:cNvPr>
          <p:cNvPicPr>
            <a:picLocks noChangeAspect="1"/>
          </p:cNvPicPr>
          <p:nvPr/>
        </p:nvPicPr>
        <p:blipFill>
          <a:blip r:embed="rId2"/>
          <a:stretch>
            <a:fillRect/>
          </a:stretch>
        </p:blipFill>
        <p:spPr>
          <a:xfrm>
            <a:off x="838200" y="4025953"/>
            <a:ext cx="4840619" cy="2556282"/>
          </a:xfrm>
          <a:prstGeom prst="rect">
            <a:avLst/>
          </a:prstGeom>
        </p:spPr>
      </p:pic>
      <p:pic>
        <p:nvPicPr>
          <p:cNvPr id="7" name="Picture 6">
            <a:extLst>
              <a:ext uri="{FF2B5EF4-FFF2-40B4-BE49-F238E27FC236}">
                <a16:creationId xmlns:a16="http://schemas.microsoft.com/office/drawing/2014/main" id="{DA83B0ED-27C0-ECC3-5B43-2F48CB74C40F}"/>
              </a:ext>
            </a:extLst>
          </p:cNvPr>
          <p:cNvPicPr>
            <a:picLocks noChangeAspect="1"/>
          </p:cNvPicPr>
          <p:nvPr/>
        </p:nvPicPr>
        <p:blipFill>
          <a:blip r:embed="rId3"/>
          <a:stretch>
            <a:fillRect/>
          </a:stretch>
        </p:blipFill>
        <p:spPr>
          <a:xfrm>
            <a:off x="6713484" y="4052277"/>
            <a:ext cx="4924891" cy="2529958"/>
          </a:xfrm>
          <a:prstGeom prst="rect">
            <a:avLst/>
          </a:prstGeom>
        </p:spPr>
      </p:pic>
    </p:spTree>
    <p:extLst>
      <p:ext uri="{BB962C8B-B14F-4D97-AF65-F5344CB8AC3E}">
        <p14:creationId xmlns:p14="http://schemas.microsoft.com/office/powerpoint/2010/main" val="4266363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52DDC-04E7-B2C5-737F-839366489C1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8D4EC36F-DDCA-2E89-8B2C-D53F9098DA27}"/>
              </a:ext>
            </a:extLst>
          </p:cNvPr>
          <p:cNvSpPr>
            <a:spLocks noGrp="1"/>
          </p:cNvSpPr>
          <p:nvPr>
            <p:ph type="body" sz="quarter" idx="15"/>
          </p:nvPr>
        </p:nvSpPr>
        <p:spPr>
          <a:xfrm>
            <a:off x="354771" y="492424"/>
            <a:ext cx="5202653" cy="5863926"/>
          </a:xfrm>
        </p:spPr>
        <p:txBody>
          <a:bodyPr>
            <a:noAutofit/>
          </a:bodyPr>
          <a:lstStyle/>
          <a:p>
            <a:pPr algn="l"/>
            <a:r>
              <a:rPr lang="en-US" sz="1800" b="1" dirty="0"/>
              <a:t>3. Groups</a:t>
            </a:r>
          </a:p>
          <a:p>
            <a:pPr marL="457200" lvl="1" indent="0">
              <a:buNone/>
            </a:pPr>
            <a:r>
              <a:rPr lang="en-US" sz="1800" b="1" dirty="0"/>
              <a:t>Meaning:</a:t>
            </a:r>
          </a:p>
          <a:p>
            <a:pPr marL="914400" lvl="2" indent="0">
              <a:buNone/>
            </a:pPr>
            <a:r>
              <a:rPr lang="en-US" sz="1800" dirty="0"/>
              <a:t>Groups are used to organize tables, packages, or tasks into categories.</a:t>
            </a:r>
          </a:p>
          <a:p>
            <a:pPr marL="914400" lvl="2" indent="0">
              <a:buNone/>
            </a:pPr>
            <a:r>
              <a:rPr lang="en-US" sz="1800" dirty="0"/>
              <a:t>Think of folders or departments.</a:t>
            </a:r>
          </a:p>
          <a:p>
            <a:pPr marL="457200" lvl="1" indent="0">
              <a:buNone/>
            </a:pPr>
            <a:r>
              <a:rPr lang="en-US" sz="1800" b="1" dirty="0"/>
              <a:t>Examples:</a:t>
            </a:r>
          </a:p>
          <a:p>
            <a:pPr marL="914400" lvl="2" indent="0">
              <a:buNone/>
            </a:pPr>
            <a:r>
              <a:rPr lang="en-US" sz="1800" dirty="0"/>
              <a:t>Finance Group </a:t>
            </a:r>
          </a:p>
          <a:p>
            <a:pPr marL="914400" lvl="2" indent="0">
              <a:buNone/>
            </a:pPr>
            <a:r>
              <a:rPr lang="en-US" sz="1800" dirty="0"/>
              <a:t>HR Group </a:t>
            </a:r>
          </a:p>
          <a:p>
            <a:pPr marL="914400" lvl="2" indent="0">
              <a:buNone/>
            </a:pPr>
            <a:r>
              <a:rPr lang="en-US" sz="1800" dirty="0"/>
              <a:t>Customer Group </a:t>
            </a:r>
          </a:p>
          <a:p>
            <a:pPr marL="914400" lvl="2" indent="0">
              <a:buNone/>
            </a:pPr>
            <a:r>
              <a:rPr lang="en-US" sz="1800" dirty="0"/>
              <a:t>Daily Jobs Group </a:t>
            </a:r>
          </a:p>
          <a:p>
            <a:pPr marL="457200" lvl="1" indent="0">
              <a:buNone/>
            </a:pPr>
            <a:r>
              <a:rPr lang="en-US" sz="1800" b="1" dirty="0"/>
              <a:t>Why Useful:</a:t>
            </a:r>
          </a:p>
          <a:p>
            <a:pPr marL="914400" lvl="2" indent="0">
              <a:buNone/>
            </a:pPr>
            <a:r>
              <a:rPr lang="en-US" sz="1800" dirty="0"/>
              <a:t>Easier navigation </a:t>
            </a:r>
          </a:p>
          <a:p>
            <a:pPr marL="914400" lvl="2" indent="0">
              <a:buNone/>
            </a:pPr>
            <a:r>
              <a:rPr lang="en-US" sz="1800" dirty="0"/>
              <a:t>Better management </a:t>
            </a:r>
          </a:p>
          <a:p>
            <a:pPr marL="914400" lvl="2" indent="0">
              <a:buNone/>
            </a:pPr>
            <a:r>
              <a:rPr lang="en-US" sz="1800" dirty="0"/>
              <a:t>Security/ownership by team </a:t>
            </a:r>
          </a:p>
          <a:p>
            <a:pPr marL="914400" lvl="2" indent="0">
              <a:buNone/>
            </a:pPr>
            <a:r>
              <a:rPr lang="en-US" sz="1800" dirty="0"/>
              <a:t>Cleaner administration </a:t>
            </a:r>
          </a:p>
          <a:p>
            <a:pPr marL="457200" lvl="1" indent="0">
              <a:buNone/>
            </a:pPr>
            <a:r>
              <a:rPr lang="en-US" sz="1800" b="1" dirty="0"/>
              <a:t>Easy Answer:</a:t>
            </a:r>
          </a:p>
          <a:p>
            <a:pPr marL="914400" lvl="2" indent="0">
              <a:buNone/>
            </a:pPr>
            <a:r>
              <a:rPr lang="en-US" sz="1800" dirty="0"/>
              <a:t>Groups help classify and organize extraction objects logically.</a:t>
            </a:r>
          </a:p>
          <a:p>
            <a:pPr algn="l"/>
            <a:endParaRPr lang="en-US" sz="1800" dirty="0"/>
          </a:p>
        </p:txBody>
      </p:sp>
      <p:sp>
        <p:nvSpPr>
          <p:cNvPr id="82" name="Slide Number Placeholder 81">
            <a:extLst>
              <a:ext uri="{FF2B5EF4-FFF2-40B4-BE49-F238E27FC236}">
                <a16:creationId xmlns:a16="http://schemas.microsoft.com/office/drawing/2014/main" id="{6D683402-5060-BE67-E2A2-7CC2516F4B02}"/>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21</a:t>
            </a:fld>
            <a:endParaRPr lang="en-US" sz="1400" dirty="0"/>
          </a:p>
        </p:txBody>
      </p:sp>
      <p:pic>
        <p:nvPicPr>
          <p:cNvPr id="3" name="Picture 2">
            <a:extLst>
              <a:ext uri="{FF2B5EF4-FFF2-40B4-BE49-F238E27FC236}">
                <a16:creationId xmlns:a16="http://schemas.microsoft.com/office/drawing/2014/main" id="{01D82D78-AAD0-6CC1-BDC4-4228E040FFD1}"/>
              </a:ext>
            </a:extLst>
          </p:cNvPr>
          <p:cNvPicPr>
            <a:picLocks noChangeAspect="1"/>
          </p:cNvPicPr>
          <p:nvPr/>
        </p:nvPicPr>
        <p:blipFill>
          <a:blip r:embed="rId2"/>
          <a:stretch>
            <a:fillRect/>
          </a:stretch>
        </p:blipFill>
        <p:spPr>
          <a:xfrm>
            <a:off x="5821265" y="1877568"/>
            <a:ext cx="6015964" cy="3093637"/>
          </a:xfrm>
          <a:prstGeom prst="rect">
            <a:avLst/>
          </a:prstGeom>
        </p:spPr>
      </p:pic>
    </p:spTree>
    <p:extLst>
      <p:ext uri="{BB962C8B-B14F-4D97-AF65-F5344CB8AC3E}">
        <p14:creationId xmlns:p14="http://schemas.microsoft.com/office/powerpoint/2010/main" val="2353632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71756-0692-ECCD-088A-65AB4D9CC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C1FF5-DF37-FFE9-30FA-62439B84EC18}"/>
              </a:ext>
            </a:extLst>
          </p:cNvPr>
          <p:cNvSpPr>
            <a:spLocks noGrp="1"/>
          </p:cNvSpPr>
          <p:nvPr>
            <p:ph type="title"/>
          </p:nvPr>
        </p:nvSpPr>
        <p:spPr>
          <a:xfrm>
            <a:off x="838200" y="365125"/>
            <a:ext cx="10515600" cy="1325563"/>
          </a:xfrm>
        </p:spPr>
        <p:txBody>
          <a:bodyPr anchor="ctr">
            <a:normAutofit/>
          </a:bodyPr>
          <a:lstStyle/>
          <a:p>
            <a:r>
              <a:rPr lang="en-US" dirty="0"/>
              <a:t>Scheduler</a:t>
            </a:r>
          </a:p>
        </p:txBody>
      </p:sp>
      <p:sp>
        <p:nvSpPr>
          <p:cNvPr id="3" name="Date Placeholder 2">
            <a:extLst>
              <a:ext uri="{FF2B5EF4-FFF2-40B4-BE49-F238E27FC236}">
                <a16:creationId xmlns:a16="http://schemas.microsoft.com/office/drawing/2014/main" id="{29359BC4-70E7-0403-32E6-757D92D8DE50}"/>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B5A2D9F2-F6B7-4A77-21BC-740EC4B3C9C0}"/>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5" name="Slide Number Placeholder 4">
            <a:extLst>
              <a:ext uri="{FF2B5EF4-FFF2-40B4-BE49-F238E27FC236}">
                <a16:creationId xmlns:a16="http://schemas.microsoft.com/office/drawing/2014/main" id="{5BC23E4F-3395-7CA3-A6F1-DFF60006A36D}"/>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22</a:t>
            </a:fld>
            <a:endParaRPr lang="en-US"/>
          </a:p>
        </p:txBody>
      </p:sp>
      <p:sp>
        <p:nvSpPr>
          <p:cNvPr id="6" name="Content Placeholder 5">
            <a:extLst>
              <a:ext uri="{FF2B5EF4-FFF2-40B4-BE49-F238E27FC236}">
                <a16:creationId xmlns:a16="http://schemas.microsoft.com/office/drawing/2014/main" id="{C8BDCD09-6581-83F6-6DFB-AC8EC97934B1}"/>
              </a:ext>
            </a:extLst>
          </p:cNvPr>
          <p:cNvSpPr>
            <a:spLocks noGrp="1"/>
          </p:cNvSpPr>
          <p:nvPr>
            <p:ph sz="quarter" idx="16"/>
          </p:nvPr>
        </p:nvSpPr>
        <p:spPr>
          <a:xfrm>
            <a:off x="838199" y="2136775"/>
            <a:ext cx="5162549" cy="3697288"/>
          </a:xfrm>
        </p:spPr>
        <p:txBody>
          <a:bodyPr>
            <a:normAutofit/>
          </a:bodyPr>
          <a:lstStyle/>
          <a:p>
            <a:r>
              <a:rPr lang="en-US" dirty="0"/>
              <a:t>The Scheduler automates extraction jobs. Task Scheduler creates and manages jobs, while Update Scheduler changes existing timings, especially for multiple weekday tasks.</a:t>
            </a:r>
          </a:p>
          <a:p>
            <a:endParaRPr lang="en-US" dirty="0"/>
          </a:p>
        </p:txBody>
      </p:sp>
      <p:pic>
        <p:nvPicPr>
          <p:cNvPr id="8" name="Picture 7">
            <a:extLst>
              <a:ext uri="{FF2B5EF4-FFF2-40B4-BE49-F238E27FC236}">
                <a16:creationId xmlns:a16="http://schemas.microsoft.com/office/drawing/2014/main" id="{71791C4A-AEEE-8242-3B24-1809F438B275}"/>
              </a:ext>
            </a:extLst>
          </p:cNvPr>
          <p:cNvPicPr>
            <a:picLocks noChangeAspect="1"/>
          </p:cNvPicPr>
          <p:nvPr/>
        </p:nvPicPr>
        <p:blipFill>
          <a:blip r:embed="rId2"/>
          <a:stretch>
            <a:fillRect/>
          </a:stretch>
        </p:blipFill>
        <p:spPr>
          <a:xfrm>
            <a:off x="6096000" y="2136775"/>
            <a:ext cx="5967274" cy="2812769"/>
          </a:xfrm>
          <a:prstGeom prst="rect">
            <a:avLst/>
          </a:prstGeom>
        </p:spPr>
      </p:pic>
    </p:spTree>
    <p:extLst>
      <p:ext uri="{BB962C8B-B14F-4D97-AF65-F5344CB8AC3E}">
        <p14:creationId xmlns:p14="http://schemas.microsoft.com/office/powerpoint/2010/main" val="4293051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EDD04-E738-F563-2B00-46F994590F4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4ECD81D-C5F3-6F5E-C365-4ABA33100DC2}"/>
              </a:ext>
            </a:extLst>
          </p:cNvPr>
          <p:cNvSpPr>
            <a:spLocks noGrp="1"/>
          </p:cNvSpPr>
          <p:nvPr>
            <p:ph type="body" sz="quarter" idx="15"/>
          </p:nvPr>
        </p:nvSpPr>
        <p:spPr>
          <a:xfrm>
            <a:off x="0" y="399684"/>
            <a:ext cx="5202653" cy="4685500"/>
          </a:xfrm>
        </p:spPr>
        <p:txBody>
          <a:bodyPr>
            <a:noAutofit/>
          </a:bodyPr>
          <a:lstStyle/>
          <a:p>
            <a:pPr algn="l"/>
            <a:r>
              <a:rPr lang="en-US" sz="1800" b="1" dirty="0"/>
              <a:t>1. Task Scheduler</a:t>
            </a:r>
          </a:p>
          <a:p>
            <a:pPr marL="457200" lvl="1" indent="0">
              <a:buNone/>
            </a:pPr>
            <a:r>
              <a:rPr lang="en-US" sz="1800" b="1" dirty="0"/>
              <a:t>Meaning:</a:t>
            </a:r>
          </a:p>
          <a:p>
            <a:pPr marL="914400" lvl="2" indent="0">
              <a:buNone/>
            </a:pPr>
            <a:r>
              <a:rPr lang="en-US" sz="1800" dirty="0"/>
              <a:t>Where you create/manage scheduled tasks.</a:t>
            </a:r>
          </a:p>
          <a:p>
            <a:pPr marL="457200" lvl="1" indent="0">
              <a:buNone/>
            </a:pPr>
            <a:r>
              <a:rPr lang="en-US" sz="1800" dirty="0"/>
              <a:t>A task can be:</a:t>
            </a:r>
          </a:p>
          <a:p>
            <a:pPr marL="914400" lvl="2" indent="0">
              <a:buNone/>
            </a:pPr>
            <a:r>
              <a:rPr lang="en-US" sz="1800" dirty="0"/>
              <a:t>Extract CUSTOMER table </a:t>
            </a:r>
          </a:p>
          <a:p>
            <a:pPr marL="914400" lvl="2" indent="0">
              <a:buNone/>
            </a:pPr>
            <a:r>
              <a:rPr lang="en-US" sz="1800" dirty="0"/>
              <a:t>Run package </a:t>
            </a:r>
          </a:p>
          <a:p>
            <a:pPr marL="914400" lvl="2" indent="0">
              <a:buNone/>
            </a:pPr>
            <a:r>
              <a:rPr lang="en-US" sz="1800" dirty="0"/>
              <a:t>Load reporting DB </a:t>
            </a:r>
          </a:p>
          <a:p>
            <a:pPr marL="914400" lvl="2" indent="0">
              <a:buNone/>
            </a:pPr>
            <a:r>
              <a:rPr lang="en-US" sz="1800" dirty="0"/>
              <a:t>Send report email </a:t>
            </a:r>
          </a:p>
          <a:p>
            <a:pPr marL="457200" lvl="1" indent="0">
              <a:buNone/>
            </a:pPr>
            <a:r>
              <a:rPr lang="en-US" sz="1800" b="1" dirty="0"/>
              <a:t>Common Settings:</a:t>
            </a:r>
          </a:p>
          <a:p>
            <a:pPr marL="914400" lvl="2" indent="0">
              <a:buNone/>
            </a:pPr>
            <a:r>
              <a:rPr lang="en-US" sz="1800" dirty="0"/>
              <a:t>Job name </a:t>
            </a:r>
          </a:p>
          <a:p>
            <a:pPr marL="914400" lvl="2" indent="0">
              <a:buNone/>
            </a:pPr>
            <a:r>
              <a:rPr lang="en-US" sz="1800" dirty="0"/>
              <a:t>Start time </a:t>
            </a:r>
          </a:p>
          <a:p>
            <a:pPr marL="914400" lvl="2" indent="0">
              <a:buNone/>
            </a:pPr>
            <a:r>
              <a:rPr lang="en-US" sz="1800" dirty="0"/>
              <a:t>Frequency </a:t>
            </a:r>
          </a:p>
          <a:p>
            <a:pPr marL="914400" lvl="2" indent="0">
              <a:buNone/>
            </a:pPr>
            <a:r>
              <a:rPr lang="en-US" sz="1800" dirty="0"/>
              <a:t>Days to run </a:t>
            </a:r>
          </a:p>
          <a:p>
            <a:pPr marL="914400" lvl="2" indent="0">
              <a:buNone/>
            </a:pPr>
            <a:r>
              <a:rPr lang="en-US" sz="1800" dirty="0"/>
              <a:t>Enabled/disabled </a:t>
            </a:r>
          </a:p>
          <a:p>
            <a:pPr marL="914400" lvl="2" indent="0">
              <a:buNone/>
            </a:pPr>
            <a:r>
              <a:rPr lang="en-US" sz="1800" dirty="0"/>
              <a:t>Dependency rules </a:t>
            </a:r>
          </a:p>
          <a:p>
            <a:pPr marL="457200" lvl="1" indent="0">
              <a:buNone/>
            </a:pPr>
            <a:r>
              <a:rPr lang="en-US" sz="1800" b="1" dirty="0"/>
              <a:t>Example:</a:t>
            </a:r>
          </a:p>
          <a:p>
            <a:pPr marL="914400" lvl="2" indent="0">
              <a:buNone/>
            </a:pPr>
            <a:r>
              <a:rPr lang="en-US" sz="1800" dirty="0"/>
              <a:t>Task: Daily Transactions Load</a:t>
            </a:r>
            <a:br>
              <a:rPr lang="en-US" sz="1800" dirty="0"/>
            </a:br>
            <a:r>
              <a:rPr lang="en-US" sz="1800" dirty="0"/>
              <a:t>Time: 2:00 AM</a:t>
            </a:r>
            <a:br>
              <a:rPr lang="en-US" sz="1800" dirty="0"/>
            </a:br>
            <a:r>
              <a:rPr lang="en-US" sz="1800" dirty="0"/>
              <a:t>Days: Mon–Fri</a:t>
            </a:r>
          </a:p>
          <a:p>
            <a:pPr algn="l"/>
            <a:endParaRPr lang="en-US" sz="1800" dirty="0"/>
          </a:p>
        </p:txBody>
      </p:sp>
      <p:sp>
        <p:nvSpPr>
          <p:cNvPr id="81" name="Footer Placeholder 80">
            <a:extLst>
              <a:ext uri="{FF2B5EF4-FFF2-40B4-BE49-F238E27FC236}">
                <a16:creationId xmlns:a16="http://schemas.microsoft.com/office/drawing/2014/main" id="{852E6B67-01CD-9B92-5AF2-5A0057F6C7D5}"/>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2E00A379-7731-285D-5C7E-861C060611AB}"/>
              </a:ext>
            </a:extLst>
          </p:cNvPr>
          <p:cNvSpPr>
            <a:spLocks noGrp="1"/>
          </p:cNvSpPr>
          <p:nvPr>
            <p:ph type="sldNum" sz="quarter" idx="22"/>
          </p:nvPr>
        </p:nvSpPr>
        <p:spPr>
          <a:xfrm>
            <a:off x="8610600" y="6356350"/>
            <a:ext cx="3111312" cy="365125"/>
          </a:xfrm>
        </p:spPr>
        <p:txBody>
          <a:bodyPr/>
          <a:lstStyle/>
          <a:p>
            <a:pPr algn="l"/>
            <a:fld id="{B5CEABB6-07DC-46E8-9B57-56EC44A396E5}" type="slidenum">
              <a:rPr lang="en-US" sz="1400" smtClean="0"/>
              <a:pPr algn="l"/>
              <a:t>23</a:t>
            </a:fld>
            <a:endParaRPr lang="en-US" sz="1400" dirty="0"/>
          </a:p>
        </p:txBody>
      </p:sp>
      <p:pic>
        <p:nvPicPr>
          <p:cNvPr id="9" name="Picture 8">
            <a:extLst>
              <a:ext uri="{FF2B5EF4-FFF2-40B4-BE49-F238E27FC236}">
                <a16:creationId xmlns:a16="http://schemas.microsoft.com/office/drawing/2014/main" id="{A81128EC-36BE-0ED1-AC9D-0C987F56B33C}"/>
              </a:ext>
            </a:extLst>
          </p:cNvPr>
          <p:cNvPicPr>
            <a:picLocks noChangeAspect="1"/>
          </p:cNvPicPr>
          <p:nvPr/>
        </p:nvPicPr>
        <p:blipFill>
          <a:blip r:embed="rId2"/>
          <a:stretch>
            <a:fillRect/>
          </a:stretch>
        </p:blipFill>
        <p:spPr>
          <a:xfrm>
            <a:off x="5187701" y="4518123"/>
            <a:ext cx="6439245" cy="1940193"/>
          </a:xfrm>
          <a:prstGeom prst="rect">
            <a:avLst/>
          </a:prstGeom>
        </p:spPr>
      </p:pic>
      <p:pic>
        <p:nvPicPr>
          <p:cNvPr id="12" name="Picture 11">
            <a:extLst>
              <a:ext uri="{FF2B5EF4-FFF2-40B4-BE49-F238E27FC236}">
                <a16:creationId xmlns:a16="http://schemas.microsoft.com/office/drawing/2014/main" id="{A4B95B7A-EA5A-5723-EA4D-800EA3271A04}"/>
              </a:ext>
            </a:extLst>
          </p:cNvPr>
          <p:cNvPicPr>
            <a:picLocks noChangeAspect="1"/>
          </p:cNvPicPr>
          <p:nvPr/>
        </p:nvPicPr>
        <p:blipFill>
          <a:blip r:embed="rId3"/>
          <a:stretch>
            <a:fillRect/>
          </a:stretch>
        </p:blipFill>
        <p:spPr>
          <a:xfrm>
            <a:off x="5187702" y="43914"/>
            <a:ext cx="6439244" cy="2272566"/>
          </a:xfrm>
          <a:prstGeom prst="rect">
            <a:avLst/>
          </a:prstGeom>
        </p:spPr>
      </p:pic>
      <p:pic>
        <p:nvPicPr>
          <p:cNvPr id="14" name="Picture 13">
            <a:extLst>
              <a:ext uri="{FF2B5EF4-FFF2-40B4-BE49-F238E27FC236}">
                <a16:creationId xmlns:a16="http://schemas.microsoft.com/office/drawing/2014/main" id="{986B2679-F745-3DC6-51AC-69EF8B18BB1A}"/>
              </a:ext>
            </a:extLst>
          </p:cNvPr>
          <p:cNvPicPr>
            <a:picLocks noChangeAspect="1"/>
          </p:cNvPicPr>
          <p:nvPr/>
        </p:nvPicPr>
        <p:blipFill>
          <a:blip r:embed="rId4"/>
          <a:stretch>
            <a:fillRect/>
          </a:stretch>
        </p:blipFill>
        <p:spPr>
          <a:xfrm>
            <a:off x="5187701" y="2447205"/>
            <a:ext cx="6439245" cy="1940193"/>
          </a:xfrm>
          <a:prstGeom prst="rect">
            <a:avLst/>
          </a:prstGeom>
        </p:spPr>
      </p:pic>
    </p:spTree>
    <p:extLst>
      <p:ext uri="{BB962C8B-B14F-4D97-AF65-F5344CB8AC3E}">
        <p14:creationId xmlns:p14="http://schemas.microsoft.com/office/powerpoint/2010/main" val="3524298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62AAD-D4AD-7166-790C-357D2D888C3D}"/>
            </a:ext>
          </a:extLst>
        </p:cNvPr>
        <p:cNvGrpSpPr/>
        <p:nvPr/>
      </p:nvGrpSpPr>
      <p:grpSpPr>
        <a:xfrm>
          <a:off x="0" y="0"/>
          <a:ext cx="0" cy="0"/>
          <a:chOff x="0" y="0"/>
          <a:chExt cx="0" cy="0"/>
        </a:xfrm>
      </p:grpSpPr>
      <p:sp>
        <p:nvSpPr>
          <p:cNvPr id="80" name="Date Placeholder 79">
            <a:extLst>
              <a:ext uri="{FF2B5EF4-FFF2-40B4-BE49-F238E27FC236}">
                <a16:creationId xmlns:a16="http://schemas.microsoft.com/office/drawing/2014/main" id="{F5CC751C-4E13-94F4-96C8-6368B74BA642}"/>
              </a:ext>
            </a:extLst>
          </p:cNvPr>
          <p:cNvSpPr>
            <a:spLocks noGrp="1"/>
          </p:cNvSpPr>
          <p:nvPr>
            <p:ph type="dt" sz="half" idx="20"/>
          </p:nvPr>
        </p:nvSpPr>
        <p:spPr>
          <a:xfrm>
            <a:off x="838200" y="6356350"/>
            <a:ext cx="2743200" cy="365125"/>
          </a:xfrm>
        </p:spPr>
        <p:txBody>
          <a:bodyPr/>
          <a:lstStyle/>
          <a:p>
            <a:r>
              <a:rPr lang="en-US" sz="1400" dirty="0"/>
              <a:t>20XX</a:t>
            </a:r>
          </a:p>
        </p:txBody>
      </p:sp>
      <p:sp>
        <p:nvSpPr>
          <p:cNvPr id="81" name="Footer Placeholder 80">
            <a:extLst>
              <a:ext uri="{FF2B5EF4-FFF2-40B4-BE49-F238E27FC236}">
                <a16:creationId xmlns:a16="http://schemas.microsoft.com/office/drawing/2014/main" id="{D6851301-2735-FB7D-ECBA-F90698D387E0}"/>
              </a:ext>
            </a:extLst>
          </p:cNvPr>
          <p:cNvSpPr>
            <a:spLocks noGrp="1"/>
          </p:cNvSpPr>
          <p:nvPr>
            <p:ph type="ftr" sz="quarter" idx="21"/>
          </p:nvPr>
        </p:nvSpPr>
        <p:spPr>
          <a:xfrm>
            <a:off x="4038600" y="6356350"/>
            <a:ext cx="4114800" cy="365125"/>
          </a:xfrm>
        </p:spPr>
        <p:txBody>
          <a:bodyPr/>
          <a:lstStyle/>
          <a:p>
            <a:pPr algn="l"/>
            <a:r>
              <a:rPr lang="en-US" sz="1400" dirty="0"/>
              <a:t>Pitch Deck</a:t>
            </a:r>
          </a:p>
        </p:txBody>
      </p:sp>
      <p:sp>
        <p:nvSpPr>
          <p:cNvPr id="82" name="Slide Number Placeholder 81">
            <a:extLst>
              <a:ext uri="{FF2B5EF4-FFF2-40B4-BE49-F238E27FC236}">
                <a16:creationId xmlns:a16="http://schemas.microsoft.com/office/drawing/2014/main" id="{77A59266-A23A-D2B7-B90B-0451E7490C2B}"/>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24</a:t>
            </a:fld>
            <a:endParaRPr lang="en-US" sz="1400" dirty="0"/>
          </a:p>
        </p:txBody>
      </p:sp>
      <p:sp>
        <p:nvSpPr>
          <p:cNvPr id="6" name="Text Placeholder 5">
            <a:extLst>
              <a:ext uri="{FF2B5EF4-FFF2-40B4-BE49-F238E27FC236}">
                <a16:creationId xmlns:a16="http://schemas.microsoft.com/office/drawing/2014/main" id="{480B803B-4E1D-FF8D-BCD8-9EB1D0C36CC1}"/>
              </a:ext>
            </a:extLst>
          </p:cNvPr>
          <p:cNvSpPr txBox="1">
            <a:spLocks/>
          </p:cNvSpPr>
          <p:nvPr/>
        </p:nvSpPr>
        <p:spPr>
          <a:xfrm>
            <a:off x="488095" y="1637866"/>
            <a:ext cx="5402631" cy="3941839"/>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1" dirty="0"/>
              <a:t>2. Update Scheduler</a:t>
            </a:r>
          </a:p>
          <a:p>
            <a:pPr marL="457200" lvl="1" indent="0">
              <a:buFont typeface="Arial" panose="020B0604020202020204" pitchFamily="34" charset="0"/>
              <a:buNone/>
            </a:pPr>
            <a:r>
              <a:rPr lang="en-US" sz="2000" b="1" dirty="0"/>
              <a:t>Meaning:</a:t>
            </a:r>
          </a:p>
          <a:p>
            <a:pPr marL="914400" lvl="2" indent="0">
              <a:buFont typeface="Arial" panose="020B0604020202020204" pitchFamily="34" charset="0"/>
              <a:buNone/>
            </a:pPr>
            <a:r>
              <a:rPr lang="en-US" dirty="0"/>
              <a:t>Used to modify existing schedules quickly.</a:t>
            </a:r>
          </a:p>
          <a:p>
            <a:pPr marL="914400" lvl="2" indent="0">
              <a:buFont typeface="Arial" panose="020B0604020202020204" pitchFamily="34" charset="0"/>
              <a:buNone/>
            </a:pPr>
            <a:r>
              <a:rPr lang="en-US" dirty="0"/>
              <a:t>Instead of editing each job one by one.</a:t>
            </a:r>
          </a:p>
          <a:p>
            <a:pPr marL="457200" lvl="1" indent="0">
              <a:buFont typeface="Arial" panose="020B0604020202020204" pitchFamily="34" charset="0"/>
              <a:buNone/>
            </a:pPr>
            <a:r>
              <a:rPr lang="en-US" sz="2000" b="1" dirty="0"/>
              <a:t>Examples:</a:t>
            </a:r>
          </a:p>
          <a:p>
            <a:pPr marL="914400" lvl="2" indent="0">
              <a:buFont typeface="Arial" panose="020B0604020202020204" pitchFamily="34" charset="0"/>
              <a:buNone/>
            </a:pPr>
            <a:r>
              <a:rPr lang="en-US" dirty="0"/>
              <a:t>Shift all weekday jobs by +1 hour </a:t>
            </a:r>
          </a:p>
          <a:p>
            <a:pPr marL="914400" lvl="2" indent="0">
              <a:buFont typeface="Arial" panose="020B0604020202020204" pitchFamily="34" charset="0"/>
              <a:buNone/>
            </a:pPr>
            <a:r>
              <a:rPr lang="en-US" dirty="0"/>
              <a:t>Change start time from 1 AM to 3 AM </a:t>
            </a:r>
          </a:p>
          <a:p>
            <a:pPr marL="914400" lvl="2" indent="0">
              <a:buFont typeface="Arial" panose="020B0604020202020204" pitchFamily="34" charset="0"/>
              <a:buNone/>
            </a:pPr>
            <a:r>
              <a:rPr lang="en-US" dirty="0"/>
              <a:t>Pause jobs temporarily </a:t>
            </a:r>
          </a:p>
          <a:p>
            <a:pPr marL="914400" lvl="2" indent="0">
              <a:buFont typeface="Arial" panose="020B0604020202020204" pitchFamily="34" charset="0"/>
              <a:buNone/>
            </a:pPr>
            <a:r>
              <a:rPr lang="en-US" dirty="0"/>
              <a:t>Update holiday timing </a:t>
            </a:r>
          </a:p>
          <a:p>
            <a:pPr algn="l"/>
            <a:endParaRPr lang="en-US" dirty="0"/>
          </a:p>
        </p:txBody>
      </p:sp>
      <p:pic>
        <p:nvPicPr>
          <p:cNvPr id="9" name="Picture 8">
            <a:extLst>
              <a:ext uri="{FF2B5EF4-FFF2-40B4-BE49-F238E27FC236}">
                <a16:creationId xmlns:a16="http://schemas.microsoft.com/office/drawing/2014/main" id="{BF705401-BB10-9F73-20AC-130538C19762}"/>
              </a:ext>
            </a:extLst>
          </p:cNvPr>
          <p:cNvPicPr>
            <a:picLocks noChangeAspect="1"/>
          </p:cNvPicPr>
          <p:nvPr/>
        </p:nvPicPr>
        <p:blipFill>
          <a:blip r:embed="rId2"/>
          <a:stretch>
            <a:fillRect/>
          </a:stretch>
        </p:blipFill>
        <p:spPr>
          <a:xfrm>
            <a:off x="6096000" y="2503694"/>
            <a:ext cx="5402631" cy="1733746"/>
          </a:xfrm>
          <a:prstGeom prst="rect">
            <a:avLst/>
          </a:prstGeom>
        </p:spPr>
      </p:pic>
    </p:spTree>
    <p:extLst>
      <p:ext uri="{BB962C8B-B14F-4D97-AF65-F5344CB8AC3E}">
        <p14:creationId xmlns:p14="http://schemas.microsoft.com/office/powerpoint/2010/main" val="1317243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292DF-E96A-C00F-EFE3-95894322D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301BC-47A6-8F7C-449B-A41A886C9852}"/>
              </a:ext>
            </a:extLst>
          </p:cNvPr>
          <p:cNvSpPr>
            <a:spLocks noGrp="1"/>
          </p:cNvSpPr>
          <p:nvPr>
            <p:ph type="title"/>
          </p:nvPr>
        </p:nvSpPr>
        <p:spPr>
          <a:xfrm>
            <a:off x="838200" y="365125"/>
            <a:ext cx="10515600" cy="1325563"/>
          </a:xfrm>
        </p:spPr>
        <p:txBody>
          <a:bodyPr anchor="ctr">
            <a:normAutofit/>
          </a:bodyPr>
          <a:lstStyle/>
          <a:p>
            <a:r>
              <a:rPr lang="en-US" dirty="0"/>
              <a:t>REPORTS &amp; STATISTICS</a:t>
            </a:r>
          </a:p>
        </p:txBody>
      </p:sp>
      <p:sp>
        <p:nvSpPr>
          <p:cNvPr id="3" name="Date Placeholder 2">
            <a:extLst>
              <a:ext uri="{FF2B5EF4-FFF2-40B4-BE49-F238E27FC236}">
                <a16:creationId xmlns:a16="http://schemas.microsoft.com/office/drawing/2014/main" id="{C792615B-A0C8-2222-B787-FF03AF685EFD}"/>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3BEF0F56-004F-2D1A-8490-3D7F292ECD73}"/>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5" name="Slide Number Placeholder 4">
            <a:extLst>
              <a:ext uri="{FF2B5EF4-FFF2-40B4-BE49-F238E27FC236}">
                <a16:creationId xmlns:a16="http://schemas.microsoft.com/office/drawing/2014/main" id="{04EDFF61-676F-0A4D-3C6B-8E42BD762924}"/>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25</a:t>
            </a:fld>
            <a:endParaRPr lang="en-US"/>
          </a:p>
        </p:txBody>
      </p:sp>
      <p:sp>
        <p:nvSpPr>
          <p:cNvPr id="6" name="Content Placeholder 5">
            <a:extLst>
              <a:ext uri="{FF2B5EF4-FFF2-40B4-BE49-F238E27FC236}">
                <a16:creationId xmlns:a16="http://schemas.microsoft.com/office/drawing/2014/main" id="{01056B3B-ECE3-07BE-D8EC-9240924C0FE4}"/>
              </a:ext>
            </a:extLst>
          </p:cNvPr>
          <p:cNvSpPr>
            <a:spLocks noGrp="1"/>
          </p:cNvSpPr>
          <p:nvPr>
            <p:ph sz="quarter" idx="16"/>
          </p:nvPr>
        </p:nvSpPr>
        <p:spPr>
          <a:xfrm>
            <a:off x="838199" y="2136775"/>
            <a:ext cx="5162549" cy="3697288"/>
          </a:xfrm>
        </p:spPr>
        <p:txBody>
          <a:bodyPr>
            <a:normAutofit/>
          </a:bodyPr>
          <a:lstStyle/>
          <a:p>
            <a:r>
              <a:rPr lang="en-US" sz="2000"/>
              <a:t>Once configured and scheduled for extraction, we have an additional feature to generate basic reports with the extracted data. User log summaries and scheduler statistics are also available. Logs are maintained at the menu level, which is useful for audit purposes. Audit information is available for all menus, providing details on created, updated, and deleted data for all columns.</a:t>
            </a:r>
            <a:br>
              <a:rPr lang="en-US" sz="2000"/>
            </a:br>
            <a:endParaRPr lang="en-US" sz="2000"/>
          </a:p>
        </p:txBody>
      </p:sp>
      <p:pic>
        <p:nvPicPr>
          <p:cNvPr id="9" name="Picture 8">
            <a:extLst>
              <a:ext uri="{FF2B5EF4-FFF2-40B4-BE49-F238E27FC236}">
                <a16:creationId xmlns:a16="http://schemas.microsoft.com/office/drawing/2014/main" id="{C817122D-4910-8313-A29C-226286037DF4}"/>
              </a:ext>
            </a:extLst>
          </p:cNvPr>
          <p:cNvPicPr>
            <a:picLocks noChangeAspect="1"/>
          </p:cNvPicPr>
          <p:nvPr/>
        </p:nvPicPr>
        <p:blipFill>
          <a:blip r:embed="rId2"/>
          <a:srcRect l="4651" r="8150" b="-1"/>
          <a:stretch>
            <a:fillRect/>
          </a:stretch>
        </p:blipFill>
        <p:spPr>
          <a:xfrm>
            <a:off x="6191248" y="2136775"/>
            <a:ext cx="5162549" cy="3697288"/>
          </a:xfrm>
          <a:prstGeom prst="rect">
            <a:avLst/>
          </a:prstGeom>
          <a:noFill/>
        </p:spPr>
      </p:pic>
    </p:spTree>
    <p:extLst>
      <p:ext uri="{BB962C8B-B14F-4D97-AF65-F5344CB8AC3E}">
        <p14:creationId xmlns:p14="http://schemas.microsoft.com/office/powerpoint/2010/main" val="1793625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FFC746-306F-8340-209F-D7BC0CD55A78}"/>
              </a:ext>
            </a:extLst>
          </p:cNvPr>
          <p:cNvSpPr>
            <a:spLocks noGrp="1"/>
          </p:cNvSpPr>
          <p:nvPr>
            <p:ph type="title"/>
          </p:nvPr>
        </p:nvSpPr>
        <p:spPr>
          <a:xfrm>
            <a:off x="1261865" y="63423"/>
            <a:ext cx="8421688" cy="1325563"/>
          </a:xfrm>
        </p:spPr>
        <p:txBody>
          <a:bodyPr/>
          <a:lstStyle/>
          <a:p>
            <a:pPr algn="ctr"/>
            <a:r>
              <a:rPr lang="en-US" dirty="0"/>
              <a:t>1.REPORTS</a:t>
            </a:r>
          </a:p>
        </p:txBody>
      </p:sp>
      <p:sp>
        <p:nvSpPr>
          <p:cNvPr id="5" name="Text Placeholder 4">
            <a:extLst>
              <a:ext uri="{FF2B5EF4-FFF2-40B4-BE49-F238E27FC236}">
                <a16:creationId xmlns:a16="http://schemas.microsoft.com/office/drawing/2014/main" id="{C96EC8FC-80E0-55F8-AEF9-CC71D8D2D542}"/>
              </a:ext>
            </a:extLst>
          </p:cNvPr>
          <p:cNvSpPr>
            <a:spLocks noGrp="1"/>
          </p:cNvSpPr>
          <p:nvPr>
            <p:ph type="body" idx="1"/>
          </p:nvPr>
        </p:nvSpPr>
        <p:spPr>
          <a:xfrm>
            <a:off x="858157" y="1153673"/>
            <a:ext cx="3924300" cy="823912"/>
          </a:xfrm>
        </p:spPr>
        <p:txBody>
          <a:bodyPr/>
          <a:lstStyle/>
          <a:p>
            <a:r>
              <a:rPr lang="en-US" b="1" dirty="0"/>
              <a:t>Static Report</a:t>
            </a:r>
            <a:endParaRPr lang="en-US" dirty="0"/>
          </a:p>
        </p:txBody>
      </p:sp>
      <p:sp>
        <p:nvSpPr>
          <p:cNvPr id="6" name="Content Placeholder 5">
            <a:extLst>
              <a:ext uri="{FF2B5EF4-FFF2-40B4-BE49-F238E27FC236}">
                <a16:creationId xmlns:a16="http://schemas.microsoft.com/office/drawing/2014/main" id="{818FC430-79CE-7696-603B-FA0AF7FB27B0}"/>
              </a:ext>
            </a:extLst>
          </p:cNvPr>
          <p:cNvSpPr>
            <a:spLocks noGrp="1"/>
          </p:cNvSpPr>
          <p:nvPr>
            <p:ph sz="half" idx="2"/>
          </p:nvPr>
        </p:nvSpPr>
        <p:spPr>
          <a:xfrm>
            <a:off x="789026" y="2011517"/>
            <a:ext cx="3924300" cy="1997867"/>
          </a:xfrm>
        </p:spPr>
        <p:txBody>
          <a:bodyPr/>
          <a:lstStyle/>
          <a:p>
            <a:r>
              <a:rPr lang="en-US" dirty="0"/>
              <a:t>By default, we have four static reports based on scheduler status and log summary for user activity and scheduler. It is also possible to filter the report by applying selection criteria with the available fields in the corresponding table used for reports. The user can also select the report format, such as PDF, CSV, and HTML.</a:t>
            </a:r>
          </a:p>
          <a:p>
            <a:endParaRPr lang="en-US" dirty="0"/>
          </a:p>
        </p:txBody>
      </p:sp>
      <p:sp>
        <p:nvSpPr>
          <p:cNvPr id="7" name="Text Placeholder 6">
            <a:extLst>
              <a:ext uri="{FF2B5EF4-FFF2-40B4-BE49-F238E27FC236}">
                <a16:creationId xmlns:a16="http://schemas.microsoft.com/office/drawing/2014/main" id="{FACF883D-0781-B4A8-DF9B-4F428DABFB9F}"/>
              </a:ext>
            </a:extLst>
          </p:cNvPr>
          <p:cNvSpPr>
            <a:spLocks noGrp="1"/>
          </p:cNvSpPr>
          <p:nvPr>
            <p:ph type="body" sz="quarter" idx="3"/>
          </p:nvPr>
        </p:nvSpPr>
        <p:spPr>
          <a:xfrm>
            <a:off x="6986508" y="999719"/>
            <a:ext cx="3943627" cy="823912"/>
          </a:xfrm>
        </p:spPr>
        <p:txBody>
          <a:bodyPr/>
          <a:lstStyle/>
          <a:p>
            <a:r>
              <a:rPr lang="en-US" b="1" dirty="0"/>
              <a:t>Graphical report</a:t>
            </a:r>
            <a:endParaRPr lang="en-US" dirty="0"/>
          </a:p>
        </p:txBody>
      </p:sp>
      <p:sp>
        <p:nvSpPr>
          <p:cNvPr id="8" name="Content Placeholder 7">
            <a:extLst>
              <a:ext uri="{FF2B5EF4-FFF2-40B4-BE49-F238E27FC236}">
                <a16:creationId xmlns:a16="http://schemas.microsoft.com/office/drawing/2014/main" id="{7271CB9E-9C25-7499-F997-FFC58778CA31}"/>
              </a:ext>
            </a:extLst>
          </p:cNvPr>
          <p:cNvSpPr>
            <a:spLocks noGrp="1"/>
          </p:cNvSpPr>
          <p:nvPr>
            <p:ph sz="quarter" idx="4"/>
          </p:nvPr>
        </p:nvSpPr>
        <p:spPr>
          <a:xfrm>
            <a:off x="6911973" y="2041839"/>
            <a:ext cx="3943627" cy="1997867"/>
          </a:xfrm>
        </p:spPr>
        <p:txBody>
          <a:bodyPr/>
          <a:lstStyle/>
          <a:p>
            <a:r>
              <a:rPr lang="en-US" dirty="0"/>
              <a:t>A scheduler trend report is available in graphical view, in which the number of records loaded and rejected for a particular table can be viewed in a graph for the given range of dates.</a:t>
            </a:r>
          </a:p>
          <a:p>
            <a:endParaRPr lang="en-US" dirty="0"/>
          </a:p>
        </p:txBody>
      </p:sp>
      <p:pic>
        <p:nvPicPr>
          <p:cNvPr id="2" name="Picture 1">
            <a:extLst>
              <a:ext uri="{FF2B5EF4-FFF2-40B4-BE49-F238E27FC236}">
                <a16:creationId xmlns:a16="http://schemas.microsoft.com/office/drawing/2014/main" id="{D17CC732-4C9B-F10B-7D57-35BBC304B662}"/>
              </a:ext>
            </a:extLst>
          </p:cNvPr>
          <p:cNvPicPr>
            <a:picLocks noChangeAspect="1"/>
          </p:cNvPicPr>
          <p:nvPr/>
        </p:nvPicPr>
        <p:blipFill>
          <a:blip r:embed="rId2"/>
          <a:stretch>
            <a:fillRect/>
          </a:stretch>
        </p:blipFill>
        <p:spPr>
          <a:xfrm>
            <a:off x="419878" y="4039706"/>
            <a:ext cx="6143197" cy="2103302"/>
          </a:xfrm>
          <a:prstGeom prst="rect">
            <a:avLst/>
          </a:prstGeom>
        </p:spPr>
      </p:pic>
      <p:pic>
        <p:nvPicPr>
          <p:cNvPr id="3" name="Picture 2">
            <a:extLst>
              <a:ext uri="{FF2B5EF4-FFF2-40B4-BE49-F238E27FC236}">
                <a16:creationId xmlns:a16="http://schemas.microsoft.com/office/drawing/2014/main" id="{7A0D0A72-B386-41B1-841F-1B4670D395B1}"/>
              </a:ext>
            </a:extLst>
          </p:cNvPr>
          <p:cNvPicPr>
            <a:picLocks noChangeAspect="1"/>
          </p:cNvPicPr>
          <p:nvPr/>
        </p:nvPicPr>
        <p:blipFill>
          <a:blip r:embed="rId3"/>
          <a:stretch>
            <a:fillRect/>
          </a:stretch>
        </p:blipFill>
        <p:spPr>
          <a:xfrm>
            <a:off x="6764487" y="3230879"/>
            <a:ext cx="5007635" cy="3627121"/>
          </a:xfrm>
          <a:prstGeom prst="rect">
            <a:avLst/>
          </a:prstGeom>
        </p:spPr>
      </p:pic>
    </p:spTree>
    <p:extLst>
      <p:ext uri="{BB962C8B-B14F-4D97-AF65-F5344CB8AC3E}">
        <p14:creationId xmlns:p14="http://schemas.microsoft.com/office/powerpoint/2010/main" val="3218855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B8651-63EF-7CF5-0E1A-04D2E0C1C52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D20797-E136-0908-C629-32D1C3C1DF98}"/>
              </a:ext>
            </a:extLst>
          </p:cNvPr>
          <p:cNvSpPr>
            <a:spLocks noGrp="1"/>
          </p:cNvSpPr>
          <p:nvPr>
            <p:ph type="title"/>
          </p:nvPr>
        </p:nvSpPr>
        <p:spPr>
          <a:xfrm>
            <a:off x="1555062" y="50932"/>
            <a:ext cx="8421688" cy="1325563"/>
          </a:xfrm>
        </p:spPr>
        <p:txBody>
          <a:bodyPr/>
          <a:lstStyle/>
          <a:p>
            <a:pPr algn="ctr"/>
            <a:r>
              <a:rPr lang="en-US" b="1" dirty="0"/>
              <a:t>2.Logs and Statistics</a:t>
            </a:r>
            <a:endParaRPr lang="en-US" dirty="0"/>
          </a:p>
        </p:txBody>
      </p:sp>
      <p:sp>
        <p:nvSpPr>
          <p:cNvPr id="5" name="Text Placeholder 4">
            <a:extLst>
              <a:ext uri="{FF2B5EF4-FFF2-40B4-BE49-F238E27FC236}">
                <a16:creationId xmlns:a16="http://schemas.microsoft.com/office/drawing/2014/main" id="{D3788EC9-80B2-D228-7A21-D379B27DB5F1}"/>
              </a:ext>
            </a:extLst>
          </p:cNvPr>
          <p:cNvSpPr>
            <a:spLocks noGrp="1"/>
          </p:cNvSpPr>
          <p:nvPr>
            <p:ph type="body" idx="1"/>
          </p:nvPr>
        </p:nvSpPr>
        <p:spPr>
          <a:xfrm>
            <a:off x="992440" y="1147428"/>
            <a:ext cx="3924300" cy="823912"/>
          </a:xfrm>
        </p:spPr>
        <p:txBody>
          <a:bodyPr/>
          <a:lstStyle/>
          <a:p>
            <a:r>
              <a:rPr lang="en-US" b="1" dirty="0"/>
              <a:t>Scheduler Statistics</a:t>
            </a:r>
            <a:endParaRPr lang="en-US" dirty="0"/>
          </a:p>
        </p:txBody>
      </p:sp>
      <p:sp>
        <p:nvSpPr>
          <p:cNvPr id="6" name="Content Placeholder 5">
            <a:extLst>
              <a:ext uri="{FF2B5EF4-FFF2-40B4-BE49-F238E27FC236}">
                <a16:creationId xmlns:a16="http://schemas.microsoft.com/office/drawing/2014/main" id="{A12B50E1-FA4D-0B5B-D58E-6ED43729DF74}"/>
              </a:ext>
            </a:extLst>
          </p:cNvPr>
          <p:cNvSpPr>
            <a:spLocks noGrp="1"/>
          </p:cNvSpPr>
          <p:nvPr>
            <p:ph sz="half" idx="2"/>
          </p:nvPr>
        </p:nvSpPr>
        <p:spPr>
          <a:xfrm>
            <a:off x="992440" y="2058192"/>
            <a:ext cx="3924300" cy="1997867"/>
          </a:xfrm>
        </p:spPr>
        <p:txBody>
          <a:bodyPr/>
          <a:lstStyle/>
          <a:p>
            <a:r>
              <a:rPr lang="en-US" dirty="0"/>
              <a:t>- All detailed logs regarding the scheduler, i.e., the number of records loaded for single-value and multi-value tables, extraction time, source count, and the scheduler's status are available from this menu</a:t>
            </a:r>
          </a:p>
          <a:p>
            <a:endParaRPr lang="en-US" dirty="0"/>
          </a:p>
        </p:txBody>
      </p:sp>
      <p:sp>
        <p:nvSpPr>
          <p:cNvPr id="7" name="Text Placeholder 6">
            <a:extLst>
              <a:ext uri="{FF2B5EF4-FFF2-40B4-BE49-F238E27FC236}">
                <a16:creationId xmlns:a16="http://schemas.microsoft.com/office/drawing/2014/main" id="{0C9C0092-6EFF-96FF-8D21-1957E6132455}"/>
              </a:ext>
            </a:extLst>
          </p:cNvPr>
          <p:cNvSpPr>
            <a:spLocks noGrp="1"/>
          </p:cNvSpPr>
          <p:nvPr>
            <p:ph type="body" sz="quarter" idx="3"/>
          </p:nvPr>
        </p:nvSpPr>
        <p:spPr>
          <a:xfrm>
            <a:off x="7115386" y="1044724"/>
            <a:ext cx="3943627" cy="823912"/>
          </a:xfrm>
        </p:spPr>
        <p:txBody>
          <a:bodyPr/>
          <a:lstStyle/>
          <a:p>
            <a:r>
              <a:rPr lang="en-US" b="1" dirty="0"/>
              <a:t>User log summary</a:t>
            </a:r>
            <a:endParaRPr lang="en-US" dirty="0"/>
          </a:p>
        </p:txBody>
      </p:sp>
      <p:sp>
        <p:nvSpPr>
          <p:cNvPr id="8" name="Content Placeholder 7">
            <a:extLst>
              <a:ext uri="{FF2B5EF4-FFF2-40B4-BE49-F238E27FC236}">
                <a16:creationId xmlns:a16="http://schemas.microsoft.com/office/drawing/2014/main" id="{2C135ED1-E0E1-44BE-C852-0999DAFED3D0}"/>
              </a:ext>
            </a:extLst>
          </p:cNvPr>
          <p:cNvSpPr>
            <a:spLocks noGrp="1"/>
          </p:cNvSpPr>
          <p:nvPr>
            <p:ph sz="quarter" idx="4"/>
          </p:nvPr>
        </p:nvSpPr>
        <p:spPr>
          <a:xfrm>
            <a:off x="7115387" y="2088514"/>
            <a:ext cx="3943627" cy="1997867"/>
          </a:xfrm>
        </p:spPr>
        <p:txBody>
          <a:bodyPr/>
          <a:lstStyle/>
          <a:p>
            <a:r>
              <a:rPr lang="en-US" dirty="0"/>
              <a:t>All user activities are captured and details regarding them are available. i.e., user activity (list, update, etc.) on the respective record at the menu level are available.</a:t>
            </a:r>
          </a:p>
          <a:p>
            <a:endParaRPr lang="en-US" dirty="0"/>
          </a:p>
        </p:txBody>
      </p:sp>
      <p:pic>
        <p:nvPicPr>
          <p:cNvPr id="9" name="Picture 8">
            <a:extLst>
              <a:ext uri="{FF2B5EF4-FFF2-40B4-BE49-F238E27FC236}">
                <a16:creationId xmlns:a16="http://schemas.microsoft.com/office/drawing/2014/main" id="{57BDADE6-349E-5E34-2B03-D38016D25281}"/>
              </a:ext>
            </a:extLst>
          </p:cNvPr>
          <p:cNvPicPr>
            <a:picLocks noChangeAspect="1"/>
          </p:cNvPicPr>
          <p:nvPr/>
        </p:nvPicPr>
        <p:blipFill>
          <a:blip r:embed="rId2"/>
          <a:stretch>
            <a:fillRect/>
          </a:stretch>
        </p:blipFill>
        <p:spPr>
          <a:xfrm>
            <a:off x="690700" y="3481354"/>
            <a:ext cx="5502117" cy="2331922"/>
          </a:xfrm>
          <a:prstGeom prst="rect">
            <a:avLst/>
          </a:prstGeom>
        </p:spPr>
      </p:pic>
      <p:pic>
        <p:nvPicPr>
          <p:cNvPr id="10" name="Picture 9">
            <a:extLst>
              <a:ext uri="{FF2B5EF4-FFF2-40B4-BE49-F238E27FC236}">
                <a16:creationId xmlns:a16="http://schemas.microsoft.com/office/drawing/2014/main" id="{9508BCC5-47FE-586E-9575-8FBDB785CDE8}"/>
              </a:ext>
            </a:extLst>
          </p:cNvPr>
          <p:cNvPicPr>
            <a:picLocks noChangeAspect="1"/>
          </p:cNvPicPr>
          <p:nvPr/>
        </p:nvPicPr>
        <p:blipFill>
          <a:blip r:embed="rId3"/>
          <a:stretch>
            <a:fillRect/>
          </a:stretch>
        </p:blipFill>
        <p:spPr>
          <a:xfrm>
            <a:off x="6616656" y="3481354"/>
            <a:ext cx="5387807" cy="2331922"/>
          </a:xfrm>
          <a:prstGeom prst="rect">
            <a:avLst/>
          </a:prstGeom>
        </p:spPr>
      </p:pic>
    </p:spTree>
    <p:extLst>
      <p:ext uri="{BB962C8B-B14F-4D97-AF65-F5344CB8AC3E}">
        <p14:creationId xmlns:p14="http://schemas.microsoft.com/office/powerpoint/2010/main" val="8893017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11C38-75E1-232B-E8EE-DE4130ECC0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C7C670-814D-2249-BC25-B8B5BEE5A819}"/>
              </a:ext>
            </a:extLst>
          </p:cNvPr>
          <p:cNvSpPr>
            <a:spLocks noGrp="1"/>
          </p:cNvSpPr>
          <p:nvPr>
            <p:ph type="title"/>
          </p:nvPr>
        </p:nvSpPr>
        <p:spPr>
          <a:xfrm>
            <a:off x="1976595" y="196136"/>
            <a:ext cx="8421688" cy="1325563"/>
          </a:xfrm>
        </p:spPr>
        <p:txBody>
          <a:bodyPr vert="horz" lIns="91440" tIns="45720" rIns="91440" bIns="45720" rtlCol="0" anchor="ctr">
            <a:normAutofit/>
          </a:bodyPr>
          <a:lstStyle/>
          <a:p>
            <a:r>
              <a:rPr lang="en-US" kern="1200" cap="all" spc="150" baseline="0" dirty="0">
                <a:latin typeface="+mj-lt"/>
                <a:ea typeface="+mj-ea"/>
                <a:cs typeface="+mj-cs"/>
              </a:rPr>
              <a:t>3.Audit Information</a:t>
            </a:r>
          </a:p>
        </p:txBody>
      </p:sp>
      <p:sp>
        <p:nvSpPr>
          <p:cNvPr id="5" name="Text Placeholder 4">
            <a:extLst>
              <a:ext uri="{FF2B5EF4-FFF2-40B4-BE49-F238E27FC236}">
                <a16:creationId xmlns:a16="http://schemas.microsoft.com/office/drawing/2014/main" id="{CF09B2AB-BF93-0708-E2D0-D9031AC273B2}"/>
              </a:ext>
            </a:extLst>
          </p:cNvPr>
          <p:cNvSpPr>
            <a:spLocks noGrp="1"/>
          </p:cNvSpPr>
          <p:nvPr>
            <p:ph type="body" sz="quarter" idx="3"/>
          </p:nvPr>
        </p:nvSpPr>
        <p:spPr>
          <a:xfrm>
            <a:off x="6096000" y="2207052"/>
            <a:ext cx="5669881" cy="773372"/>
          </a:xfrm>
        </p:spPr>
        <p:txBody>
          <a:bodyPr vert="horz" lIns="91440" tIns="45720" rIns="91440" bIns="45720" rtlCol="0" anchor="b">
            <a:normAutofit/>
          </a:bodyPr>
          <a:lstStyle/>
          <a:p>
            <a:pPr algn="ctr"/>
            <a:r>
              <a:rPr lang="en-US" sz="1700" b="1" dirty="0"/>
              <a:t>Below is the sample screenshot for the audit log for Scheduler configuration</a:t>
            </a:r>
          </a:p>
        </p:txBody>
      </p:sp>
      <p:sp>
        <p:nvSpPr>
          <p:cNvPr id="3" name="TextBox 2">
            <a:extLst>
              <a:ext uri="{FF2B5EF4-FFF2-40B4-BE49-F238E27FC236}">
                <a16:creationId xmlns:a16="http://schemas.microsoft.com/office/drawing/2014/main" id="{4EFBB0A5-D380-3321-8E0C-D3D53140231E}"/>
              </a:ext>
            </a:extLst>
          </p:cNvPr>
          <p:cNvSpPr txBox="1"/>
          <p:nvPr/>
        </p:nvSpPr>
        <p:spPr>
          <a:xfrm>
            <a:off x="386080" y="1362820"/>
            <a:ext cx="11471240" cy="823912"/>
          </a:xfrm>
          <a:prstGeom prst="rect">
            <a:avLst/>
          </a:prstGeom>
        </p:spPr>
        <p:txBody>
          <a:bodyPr vert="horz" lIns="91440" tIns="45720" rIns="91440" bIns="45720" rtlCol="0" anchor="b">
            <a:noAutofit/>
          </a:bodyPr>
          <a:lstStyle/>
          <a:p>
            <a:pPr>
              <a:lnSpc>
                <a:spcPct val="90000"/>
              </a:lnSpc>
              <a:spcBef>
                <a:spcPts val="1000"/>
              </a:spcBef>
            </a:pPr>
            <a:r>
              <a:rPr lang="en-US" sz="1600" kern="1200" cap="all" spc="150" baseline="0" dirty="0">
                <a:solidFill>
                  <a:schemeClr val="tx1">
                    <a:lumMod val="75000"/>
                    <a:lumOff val="25000"/>
                  </a:schemeClr>
                </a:solidFill>
                <a:latin typeface="+mj-lt"/>
                <a:ea typeface="+mj-ea"/>
                <a:cs typeface="+mj-cs"/>
              </a:rPr>
              <a:t>The logs captured at the menu level are used for audit purposes. All activities are logged, and the values updated for all available columns in the corresponding menu are displayed as audit information.</a:t>
            </a:r>
          </a:p>
        </p:txBody>
      </p:sp>
      <p:sp>
        <p:nvSpPr>
          <p:cNvPr id="19" name="Date Placeholder 8">
            <a:extLst>
              <a:ext uri="{FF2B5EF4-FFF2-40B4-BE49-F238E27FC236}">
                <a16:creationId xmlns:a16="http://schemas.microsoft.com/office/drawing/2014/main" id="{ED957797-E825-23F5-C34D-985C91EC8B51}"/>
              </a:ext>
            </a:extLst>
          </p:cNvPr>
          <p:cNvSpPr>
            <a:spLocks noGrp="1"/>
          </p:cNvSpPr>
          <p:nvPr>
            <p:ph type="dt" sz="half" idx="10"/>
          </p:nvPr>
        </p:nvSpPr>
        <p:spPr>
          <a:xfrm>
            <a:off x="838200" y="6356350"/>
            <a:ext cx="2743200" cy="365125"/>
          </a:xfrm>
        </p:spPr>
        <p:txBody>
          <a:bodyPr/>
          <a:lstStyle/>
          <a:p>
            <a:pPr>
              <a:spcAft>
                <a:spcPts val="600"/>
              </a:spcAft>
            </a:pPr>
            <a:r>
              <a:rPr lang="en-US"/>
              <a:t>20XX</a:t>
            </a:r>
          </a:p>
        </p:txBody>
      </p:sp>
      <p:sp>
        <p:nvSpPr>
          <p:cNvPr id="21" name="Footer Placeholder 9">
            <a:extLst>
              <a:ext uri="{FF2B5EF4-FFF2-40B4-BE49-F238E27FC236}">
                <a16:creationId xmlns:a16="http://schemas.microsoft.com/office/drawing/2014/main" id="{9A9CB3A4-AF04-5553-F931-9E58300E8A4A}"/>
              </a:ext>
            </a:extLst>
          </p:cNvPr>
          <p:cNvSpPr>
            <a:spLocks noGrp="1"/>
          </p:cNvSpPr>
          <p:nvPr>
            <p:ph type="ftr" sz="quarter" idx="11"/>
          </p:nvPr>
        </p:nvSpPr>
        <p:spPr>
          <a:xfrm>
            <a:off x="4038600" y="6356350"/>
            <a:ext cx="4114800" cy="365125"/>
          </a:xfrm>
        </p:spPr>
        <p:txBody>
          <a:bodyPr/>
          <a:lstStyle/>
          <a:p>
            <a:pPr>
              <a:spcAft>
                <a:spcPts val="600"/>
              </a:spcAft>
            </a:pPr>
            <a:r>
              <a:rPr lang="en-US"/>
              <a:t>Pitch Deck</a:t>
            </a:r>
          </a:p>
        </p:txBody>
      </p:sp>
      <p:sp>
        <p:nvSpPr>
          <p:cNvPr id="23" name="Slide Number Placeholder 10">
            <a:extLst>
              <a:ext uri="{FF2B5EF4-FFF2-40B4-BE49-F238E27FC236}">
                <a16:creationId xmlns:a16="http://schemas.microsoft.com/office/drawing/2014/main" id="{01D9E912-B8E9-3D5B-A023-C5C34ADA307C}"/>
              </a:ext>
            </a:extLst>
          </p:cNvPr>
          <p:cNvSpPr>
            <a:spLocks noGrp="1"/>
          </p:cNvSpPr>
          <p:nvPr>
            <p:ph type="sldNum" sz="quarter" idx="12"/>
          </p:nvPr>
        </p:nvSpPr>
        <p:spPr>
          <a:xfrm>
            <a:off x="8610600" y="6356350"/>
            <a:ext cx="2743200" cy="365125"/>
          </a:xfrm>
        </p:spPr>
        <p:txBody>
          <a:bodyPr/>
          <a:lstStyle/>
          <a:p>
            <a:pPr>
              <a:spcAft>
                <a:spcPts val="600"/>
              </a:spcAft>
            </a:pPr>
            <a:fld id="{B5CEABB6-07DC-46E8-9B57-56EC44A396E5}" type="slidenum">
              <a:rPr lang="en-US" smtClean="0"/>
              <a:pPr>
                <a:spcAft>
                  <a:spcPts val="600"/>
                </a:spcAft>
              </a:pPr>
              <a:t>28</a:t>
            </a:fld>
            <a:endParaRPr lang="en-US"/>
          </a:p>
        </p:txBody>
      </p:sp>
      <p:pic>
        <p:nvPicPr>
          <p:cNvPr id="20" name="Content Placeholder 19">
            <a:extLst>
              <a:ext uri="{FF2B5EF4-FFF2-40B4-BE49-F238E27FC236}">
                <a16:creationId xmlns:a16="http://schemas.microsoft.com/office/drawing/2014/main" id="{5A598358-16DA-6E36-B0EE-01C3C13360D5}"/>
              </a:ext>
            </a:extLst>
          </p:cNvPr>
          <p:cNvPicPr>
            <a:picLocks noGrp="1" noChangeAspect="1"/>
          </p:cNvPicPr>
          <p:nvPr>
            <p:ph sz="half" idx="2"/>
          </p:nvPr>
        </p:nvPicPr>
        <p:blipFill>
          <a:blip r:embed="rId2"/>
          <a:stretch>
            <a:fillRect/>
          </a:stretch>
        </p:blipFill>
        <p:spPr>
          <a:xfrm>
            <a:off x="1993867" y="3193795"/>
            <a:ext cx="2138680" cy="3345117"/>
          </a:xfrm>
          <a:prstGeom prst="rect">
            <a:avLst/>
          </a:prstGeom>
        </p:spPr>
      </p:pic>
      <p:pic>
        <p:nvPicPr>
          <p:cNvPr id="28" name="Content Placeholder 27">
            <a:extLst>
              <a:ext uri="{FF2B5EF4-FFF2-40B4-BE49-F238E27FC236}">
                <a16:creationId xmlns:a16="http://schemas.microsoft.com/office/drawing/2014/main" id="{6D5FD01E-B1C2-F004-523A-034C51105E16}"/>
              </a:ext>
            </a:extLst>
          </p:cNvPr>
          <p:cNvPicPr>
            <a:picLocks noGrp="1" noChangeAspect="1"/>
          </p:cNvPicPr>
          <p:nvPr>
            <p:ph sz="quarter" idx="4"/>
          </p:nvPr>
        </p:nvPicPr>
        <p:blipFill>
          <a:blip r:embed="rId3"/>
          <a:stretch>
            <a:fillRect/>
          </a:stretch>
        </p:blipFill>
        <p:spPr>
          <a:xfrm>
            <a:off x="6242343" y="3699450"/>
            <a:ext cx="5614977" cy="2396350"/>
          </a:xfrm>
          <a:prstGeom prst="rect">
            <a:avLst/>
          </a:prstGeom>
        </p:spPr>
      </p:pic>
      <p:sp>
        <p:nvSpPr>
          <p:cNvPr id="31" name="Text Placeholder 6">
            <a:extLst>
              <a:ext uri="{FF2B5EF4-FFF2-40B4-BE49-F238E27FC236}">
                <a16:creationId xmlns:a16="http://schemas.microsoft.com/office/drawing/2014/main" id="{E8A8047B-0591-F6A3-2696-5D106D0AA89C}"/>
              </a:ext>
            </a:extLst>
          </p:cNvPr>
          <p:cNvSpPr txBox="1">
            <a:spLocks/>
          </p:cNvSpPr>
          <p:nvPr/>
        </p:nvSpPr>
        <p:spPr>
          <a:xfrm>
            <a:off x="304735" y="2323892"/>
            <a:ext cx="5516945" cy="77337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lang="en-US" sz="2000" kern="1200" cap="all" spc="150" baseline="0" dirty="0" smtClean="0">
                <a:solidFill>
                  <a:schemeClr val="tx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700" b="1"/>
              <a:t>Audit details are available for the list of menus below</a:t>
            </a:r>
          </a:p>
        </p:txBody>
      </p:sp>
    </p:spTree>
    <p:extLst>
      <p:ext uri="{BB962C8B-B14F-4D97-AF65-F5344CB8AC3E}">
        <p14:creationId xmlns:p14="http://schemas.microsoft.com/office/powerpoint/2010/main" val="727764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0FFE-0BA0-309E-311D-CBC83FD98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1A480-01A2-41B7-5271-7CAB325A3460}"/>
              </a:ext>
            </a:extLst>
          </p:cNvPr>
          <p:cNvSpPr>
            <a:spLocks noGrp="1"/>
          </p:cNvSpPr>
          <p:nvPr>
            <p:ph type="title"/>
          </p:nvPr>
        </p:nvSpPr>
        <p:spPr>
          <a:xfrm>
            <a:off x="838200" y="365125"/>
            <a:ext cx="10515600" cy="1325563"/>
          </a:xfrm>
        </p:spPr>
        <p:txBody>
          <a:bodyPr anchor="ctr">
            <a:normAutofit/>
          </a:bodyPr>
          <a:lstStyle/>
          <a:p>
            <a:r>
              <a:rPr lang="en-US" b="1" dirty="0"/>
              <a:t>TECHNICAL INFORMATION </a:t>
            </a:r>
            <a:endParaRPr lang="en-US" dirty="0"/>
          </a:p>
        </p:txBody>
      </p:sp>
      <p:sp>
        <p:nvSpPr>
          <p:cNvPr id="3" name="Date Placeholder 2">
            <a:extLst>
              <a:ext uri="{FF2B5EF4-FFF2-40B4-BE49-F238E27FC236}">
                <a16:creationId xmlns:a16="http://schemas.microsoft.com/office/drawing/2014/main" id="{7B8E64B6-DD6C-4D3E-13BC-1B7B320A06E0}"/>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a:t>20XX</a:t>
            </a:r>
          </a:p>
        </p:txBody>
      </p:sp>
      <p:sp>
        <p:nvSpPr>
          <p:cNvPr id="4" name="Footer Placeholder 3">
            <a:extLst>
              <a:ext uri="{FF2B5EF4-FFF2-40B4-BE49-F238E27FC236}">
                <a16:creationId xmlns:a16="http://schemas.microsoft.com/office/drawing/2014/main" id="{87D24DC4-DBD2-227D-8E0F-19C0D29BC992}"/>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Pitch Deck</a:t>
            </a:r>
          </a:p>
        </p:txBody>
      </p:sp>
      <p:sp>
        <p:nvSpPr>
          <p:cNvPr id="5" name="Slide Number Placeholder 4">
            <a:extLst>
              <a:ext uri="{FF2B5EF4-FFF2-40B4-BE49-F238E27FC236}">
                <a16:creationId xmlns:a16="http://schemas.microsoft.com/office/drawing/2014/main" id="{C4702C8F-E24C-8F1C-75A0-E0ECC58BE1C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5CEABB6-07DC-46E8-9B57-56EC44A396E5}" type="slidenum">
              <a:rPr lang="en-US" smtClean="0"/>
              <a:pPr>
                <a:spcAft>
                  <a:spcPts val="600"/>
                </a:spcAft>
              </a:pPr>
              <a:t>29</a:t>
            </a:fld>
            <a:endParaRPr lang="en-US"/>
          </a:p>
        </p:txBody>
      </p:sp>
      <p:sp>
        <p:nvSpPr>
          <p:cNvPr id="6" name="Content Placeholder 5">
            <a:extLst>
              <a:ext uri="{FF2B5EF4-FFF2-40B4-BE49-F238E27FC236}">
                <a16:creationId xmlns:a16="http://schemas.microsoft.com/office/drawing/2014/main" id="{A36BEE9F-32B1-0DFB-E3A8-303907295179}"/>
              </a:ext>
            </a:extLst>
          </p:cNvPr>
          <p:cNvSpPr>
            <a:spLocks noGrp="1"/>
          </p:cNvSpPr>
          <p:nvPr>
            <p:ph sz="quarter" idx="16"/>
          </p:nvPr>
        </p:nvSpPr>
        <p:spPr>
          <a:xfrm>
            <a:off x="838199" y="2136775"/>
            <a:ext cx="10568941" cy="3697288"/>
          </a:xfrm>
        </p:spPr>
        <p:txBody>
          <a:bodyPr>
            <a:normAutofit fontScale="92500" lnSpcReduction="10000"/>
          </a:bodyPr>
          <a:lstStyle/>
          <a:p>
            <a:pPr marL="0" indent="0">
              <a:buNone/>
            </a:pPr>
            <a:r>
              <a:rPr lang="en-US" dirty="0"/>
              <a:t>This section explains how </a:t>
            </a:r>
            <a:r>
              <a:rPr lang="en-US" b="1" dirty="0" err="1"/>
              <a:t>jBLoader</a:t>
            </a:r>
            <a:r>
              <a:rPr lang="en-US" b="1" dirty="0"/>
              <a:t> works with Temenos T24</a:t>
            </a:r>
            <a:r>
              <a:rPr lang="en-US" dirty="0"/>
              <a:t> on the server side, how services start/stop, licensing, and troubleshooting.</a:t>
            </a:r>
          </a:p>
          <a:p>
            <a:pPr lvl="1"/>
            <a:r>
              <a:rPr lang="en-US" b="1" dirty="0"/>
              <a:t>A. When Extra Technical Setup Is Needed</a:t>
            </a:r>
          </a:p>
          <a:p>
            <a:pPr lvl="1"/>
            <a:r>
              <a:rPr lang="en-US" b="1" dirty="0"/>
              <a:t>B. </a:t>
            </a:r>
            <a:r>
              <a:rPr lang="en-US" b="1" dirty="0" err="1"/>
              <a:t>jBLoader</a:t>
            </a:r>
            <a:r>
              <a:rPr lang="en-US" b="1" dirty="0"/>
              <a:t> Uses T24 Services</a:t>
            </a:r>
            <a:endParaRPr lang="en-US" dirty="0"/>
          </a:p>
          <a:p>
            <a:pPr lvl="1"/>
            <a:r>
              <a:rPr lang="en-US" b="1" dirty="0"/>
              <a:t>C. License Requirement</a:t>
            </a:r>
            <a:endParaRPr lang="en-US" dirty="0"/>
          </a:p>
          <a:p>
            <a:pPr lvl="1"/>
            <a:r>
              <a:rPr lang="en-US" b="1" dirty="0"/>
              <a:t>D. Starting the Service</a:t>
            </a:r>
            <a:endParaRPr lang="en-US" dirty="0"/>
          </a:p>
          <a:p>
            <a:pPr lvl="1"/>
            <a:r>
              <a:rPr lang="en-US" b="1" dirty="0"/>
              <a:t>E. Stopping the </a:t>
            </a:r>
            <a:r>
              <a:rPr lang="en-US" b="1" dirty="0" err="1"/>
              <a:t>ServiceSTOP</a:t>
            </a:r>
            <a:endParaRPr lang="en-US" dirty="0"/>
          </a:p>
          <a:p>
            <a:pPr lvl="1"/>
            <a:r>
              <a:rPr lang="en-US" b="1" dirty="0"/>
              <a:t>F. How Processing Works Internally</a:t>
            </a:r>
            <a:endParaRPr lang="en-US" dirty="0"/>
          </a:p>
          <a:p>
            <a:pPr lvl="1"/>
            <a:r>
              <a:rPr lang="en-US" b="1" dirty="0"/>
              <a:t>G. After Extraction Completes</a:t>
            </a:r>
          </a:p>
          <a:p>
            <a:pPr lvl="1"/>
            <a:r>
              <a:rPr lang="en-US" b="1" dirty="0"/>
              <a:t>H. Troubleshooting Section</a:t>
            </a:r>
          </a:p>
          <a:p>
            <a:endParaRPr lang="en-US" dirty="0"/>
          </a:p>
          <a:p>
            <a:endParaRPr lang="en-US" dirty="0"/>
          </a:p>
        </p:txBody>
      </p:sp>
    </p:spTree>
    <p:extLst>
      <p:ext uri="{BB962C8B-B14F-4D97-AF65-F5344CB8AC3E}">
        <p14:creationId xmlns:p14="http://schemas.microsoft.com/office/powerpoint/2010/main" val="1013996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56ADB-AF74-7CFE-2CFE-53625418042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377C92E-6731-9DCC-986C-7EC59CE88F2D}"/>
              </a:ext>
            </a:extLst>
          </p:cNvPr>
          <p:cNvSpPr>
            <a:spLocks noGrp="1"/>
          </p:cNvSpPr>
          <p:nvPr>
            <p:ph type="body" sz="quarter" idx="15"/>
          </p:nvPr>
        </p:nvSpPr>
        <p:spPr>
          <a:xfrm>
            <a:off x="651484" y="182648"/>
            <a:ext cx="5297903" cy="3752744"/>
          </a:xfrm>
        </p:spPr>
        <p:txBody>
          <a:bodyPr>
            <a:noAutofit/>
          </a:bodyPr>
          <a:lstStyle/>
          <a:p>
            <a:pPr algn="l"/>
            <a:r>
              <a:rPr lang="en-US" b="1" dirty="0"/>
              <a:t>A. When Extra Technical Setup Is Needed</a:t>
            </a:r>
          </a:p>
          <a:p>
            <a:pPr marL="457200" lvl="1" indent="0">
              <a:buNone/>
            </a:pPr>
            <a:r>
              <a:rPr lang="en-US" sz="1400" dirty="0"/>
              <a:t>Special setup may be required when:</a:t>
            </a:r>
          </a:p>
          <a:p>
            <a:pPr marL="914400" lvl="2" indent="0">
              <a:buNone/>
            </a:pPr>
            <a:r>
              <a:rPr lang="en-US" sz="1000" b="1" dirty="0"/>
              <a:t>1. Extraction Happens at Application Server Level</a:t>
            </a:r>
          </a:p>
          <a:p>
            <a:pPr lvl="3"/>
            <a:r>
              <a:rPr lang="en-US" sz="800" dirty="0"/>
              <a:t>Meaning data is not pulled directly from DB only, but through T24 application services.</a:t>
            </a:r>
          </a:p>
          <a:p>
            <a:pPr marL="914400" lvl="2" indent="0">
              <a:buNone/>
            </a:pPr>
            <a:r>
              <a:rPr lang="en-US" sz="1000" b="1" dirty="0"/>
              <a:t>2. Oracle / T24 Special Fields Are Needed</a:t>
            </a:r>
          </a:p>
          <a:p>
            <a:pPr marL="914400" lvl="2" indent="0">
              <a:buNone/>
            </a:pPr>
            <a:r>
              <a:rPr lang="en-US" sz="1000" dirty="0"/>
              <a:t>Examples:</a:t>
            </a:r>
          </a:p>
          <a:p>
            <a:pPr lvl="3"/>
            <a:r>
              <a:rPr lang="en-US" sz="800" dirty="0"/>
              <a:t>DESC </a:t>
            </a:r>
          </a:p>
          <a:p>
            <a:pPr lvl="3"/>
            <a:r>
              <a:rPr lang="en-US" sz="800" dirty="0"/>
              <a:t>J-DESC </a:t>
            </a:r>
          </a:p>
          <a:p>
            <a:pPr lvl="3"/>
            <a:r>
              <a:rPr lang="en-US" sz="800" dirty="0"/>
              <a:t>Virtual fields </a:t>
            </a:r>
          </a:p>
          <a:p>
            <a:pPr lvl="3"/>
            <a:r>
              <a:rPr lang="en-US" sz="800" dirty="0"/>
              <a:t>These may not exist as normal DB columns and need server-side logic.</a:t>
            </a:r>
          </a:p>
          <a:p>
            <a:pPr lvl="2"/>
            <a:r>
              <a:rPr lang="en-US" sz="1000" b="1" dirty="0"/>
              <a:t>3. Special Selection Criteria Needed</a:t>
            </a:r>
          </a:p>
          <a:p>
            <a:pPr lvl="3"/>
            <a:r>
              <a:rPr lang="en-US" sz="800" dirty="0"/>
              <a:t>Meaning advanced filters such as:</a:t>
            </a:r>
          </a:p>
          <a:p>
            <a:pPr lvl="3"/>
            <a:r>
              <a:rPr lang="en-US" sz="800" dirty="0"/>
              <a:t>Only active customers </a:t>
            </a:r>
          </a:p>
          <a:p>
            <a:pPr lvl="3"/>
            <a:r>
              <a:rPr lang="en-US" sz="800" dirty="0"/>
              <a:t>Only today’s transactions </a:t>
            </a:r>
          </a:p>
          <a:p>
            <a:pPr lvl="3"/>
            <a:r>
              <a:rPr lang="en-US" sz="800" dirty="0"/>
              <a:t>Only specific branch records</a:t>
            </a:r>
          </a:p>
        </p:txBody>
      </p:sp>
      <p:sp>
        <p:nvSpPr>
          <p:cNvPr id="6" name="Text Placeholder 5">
            <a:extLst>
              <a:ext uri="{FF2B5EF4-FFF2-40B4-BE49-F238E27FC236}">
                <a16:creationId xmlns:a16="http://schemas.microsoft.com/office/drawing/2014/main" id="{9BEF9D5D-AEF5-24B5-E035-BF37ED3ECD18}"/>
              </a:ext>
            </a:extLst>
          </p:cNvPr>
          <p:cNvSpPr>
            <a:spLocks noGrp="1"/>
          </p:cNvSpPr>
          <p:nvPr>
            <p:ph type="body" sz="quarter" idx="17"/>
          </p:nvPr>
        </p:nvSpPr>
        <p:spPr>
          <a:xfrm>
            <a:off x="6137885" y="182647"/>
            <a:ext cx="5402631" cy="2570117"/>
          </a:xfrm>
        </p:spPr>
        <p:txBody>
          <a:bodyPr>
            <a:noAutofit/>
          </a:bodyPr>
          <a:lstStyle/>
          <a:p>
            <a:pPr algn="l"/>
            <a:r>
              <a:rPr lang="en-US" b="1" dirty="0"/>
              <a:t>B. </a:t>
            </a:r>
            <a:r>
              <a:rPr lang="en-US" b="1" dirty="0" err="1"/>
              <a:t>jBLoader</a:t>
            </a:r>
            <a:r>
              <a:rPr lang="en-US" b="1" dirty="0"/>
              <a:t> Uses T24 Services</a:t>
            </a:r>
          </a:p>
          <a:p>
            <a:pPr marL="457200" lvl="1" indent="0">
              <a:buNone/>
            </a:pPr>
            <a:r>
              <a:rPr lang="en-US" sz="1400" dirty="0" err="1"/>
              <a:t>jBLoader</a:t>
            </a:r>
            <a:r>
              <a:rPr lang="en-US" sz="1400" dirty="0"/>
              <a:t> depends on </a:t>
            </a:r>
            <a:r>
              <a:rPr lang="en-US" sz="1400" b="1" dirty="0"/>
              <a:t>T24 server-side services/objects</a:t>
            </a:r>
            <a:r>
              <a:rPr lang="en-US" sz="1400" dirty="0"/>
              <a:t> to process extraction requests.</a:t>
            </a:r>
          </a:p>
          <a:p>
            <a:pPr marL="457200" lvl="1" indent="0">
              <a:buNone/>
            </a:pPr>
            <a:r>
              <a:rPr lang="en-US" sz="1400" b="1" dirty="0"/>
              <a:t>Important Service:</a:t>
            </a:r>
          </a:p>
          <a:p>
            <a:pPr marL="914400" lvl="2" indent="0">
              <a:buNone/>
            </a:pPr>
            <a:r>
              <a:rPr lang="en-US" sz="1000" b="1" dirty="0"/>
              <a:t>JBLOADER SERVICE CONTROL</a:t>
            </a:r>
            <a:r>
              <a:rPr lang="en-US" sz="1000" dirty="0"/>
              <a:t> (text had spelling errors)</a:t>
            </a:r>
          </a:p>
          <a:p>
            <a:pPr marL="457200" lvl="1" indent="0">
              <a:buNone/>
            </a:pPr>
            <a:r>
              <a:rPr lang="en-US" sz="1400" dirty="0"/>
              <a:t>This service should usually be set to:</a:t>
            </a:r>
          </a:p>
          <a:p>
            <a:pPr marL="914400" lvl="2" indent="0">
              <a:buNone/>
            </a:pPr>
            <a:r>
              <a:rPr lang="en-US" sz="1000" b="1" dirty="0"/>
              <a:t>AUTO Meaning of AUTO: Runs automatically in background.</a:t>
            </a:r>
          </a:p>
        </p:txBody>
      </p:sp>
      <p:sp>
        <p:nvSpPr>
          <p:cNvPr id="82" name="Slide Number Placeholder 81">
            <a:extLst>
              <a:ext uri="{FF2B5EF4-FFF2-40B4-BE49-F238E27FC236}">
                <a16:creationId xmlns:a16="http://schemas.microsoft.com/office/drawing/2014/main" id="{D2BCAC41-8014-6552-DD6E-03F23C7FDFC6}"/>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30</a:t>
            </a:fld>
            <a:endParaRPr lang="en-US" sz="1400" dirty="0"/>
          </a:p>
        </p:txBody>
      </p:sp>
      <p:sp>
        <p:nvSpPr>
          <p:cNvPr id="2" name="Text Placeholder 3">
            <a:extLst>
              <a:ext uri="{FF2B5EF4-FFF2-40B4-BE49-F238E27FC236}">
                <a16:creationId xmlns:a16="http://schemas.microsoft.com/office/drawing/2014/main" id="{A9EF647C-E8C6-C8D8-888B-399AB3C15ED9}"/>
              </a:ext>
            </a:extLst>
          </p:cNvPr>
          <p:cNvSpPr txBox="1">
            <a:spLocks/>
          </p:cNvSpPr>
          <p:nvPr/>
        </p:nvSpPr>
        <p:spPr>
          <a:xfrm>
            <a:off x="651484" y="2922608"/>
            <a:ext cx="5297903" cy="3752744"/>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dirty="0"/>
          </a:p>
        </p:txBody>
      </p:sp>
      <p:sp>
        <p:nvSpPr>
          <p:cNvPr id="3" name="Text Placeholder 3">
            <a:extLst>
              <a:ext uri="{FF2B5EF4-FFF2-40B4-BE49-F238E27FC236}">
                <a16:creationId xmlns:a16="http://schemas.microsoft.com/office/drawing/2014/main" id="{9B3CC321-00F9-45DD-C7B9-8838F0B1CBAE}"/>
              </a:ext>
            </a:extLst>
          </p:cNvPr>
          <p:cNvSpPr txBox="1">
            <a:spLocks/>
          </p:cNvSpPr>
          <p:nvPr/>
        </p:nvSpPr>
        <p:spPr>
          <a:xfrm>
            <a:off x="651484" y="3825740"/>
            <a:ext cx="5715001" cy="3032260"/>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C. License Requirement</a:t>
            </a:r>
          </a:p>
          <a:p>
            <a:pPr marL="457200" lvl="1" indent="0">
              <a:buNone/>
            </a:pPr>
            <a:r>
              <a:rPr lang="en-US" sz="1400" dirty="0"/>
              <a:t>Need valid license in:</a:t>
            </a:r>
          </a:p>
          <a:p>
            <a:pPr marL="914400" lvl="2" indent="0">
              <a:buNone/>
            </a:pPr>
            <a:r>
              <a:rPr lang="en-US" sz="1000" b="1" dirty="0"/>
              <a:t>JBLOADER PARAMETER-SYSTEM</a:t>
            </a:r>
            <a:endParaRPr lang="en-US" sz="1000" dirty="0"/>
          </a:p>
          <a:p>
            <a:pPr marL="457200" lvl="1" indent="0">
              <a:buNone/>
            </a:pPr>
            <a:r>
              <a:rPr lang="en-US" sz="1400" dirty="0"/>
              <a:t>Important fields:</a:t>
            </a:r>
          </a:p>
          <a:p>
            <a:pPr lvl="2"/>
            <a:r>
              <a:rPr lang="en-US" sz="1000" dirty="0"/>
              <a:t>LICENSE.CODE </a:t>
            </a:r>
          </a:p>
          <a:p>
            <a:pPr lvl="2"/>
            <a:r>
              <a:rPr lang="en-US" sz="1000" dirty="0"/>
              <a:t>MAINTENANCE DATE </a:t>
            </a:r>
          </a:p>
          <a:p>
            <a:pPr lvl="2"/>
            <a:r>
              <a:rPr lang="en-US" sz="1000" b="1" dirty="0"/>
              <a:t>Meaning:</a:t>
            </a:r>
          </a:p>
          <a:p>
            <a:pPr lvl="3"/>
            <a:r>
              <a:rPr lang="en-US" sz="800" dirty="0"/>
              <a:t>Without valid license, tool may not run properly.</a:t>
            </a:r>
          </a:p>
          <a:p>
            <a:pPr algn="l"/>
            <a:endParaRPr lang="en-US" dirty="0"/>
          </a:p>
        </p:txBody>
      </p:sp>
      <p:sp>
        <p:nvSpPr>
          <p:cNvPr id="5" name="Text Placeholder 3">
            <a:extLst>
              <a:ext uri="{FF2B5EF4-FFF2-40B4-BE49-F238E27FC236}">
                <a16:creationId xmlns:a16="http://schemas.microsoft.com/office/drawing/2014/main" id="{8781A2BB-1EC0-9EAF-2760-556D4629C174}"/>
              </a:ext>
            </a:extLst>
          </p:cNvPr>
          <p:cNvSpPr txBox="1">
            <a:spLocks/>
          </p:cNvSpPr>
          <p:nvPr/>
        </p:nvSpPr>
        <p:spPr>
          <a:xfrm>
            <a:off x="6554983" y="2922608"/>
            <a:ext cx="5297903" cy="3433742"/>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D. Starting the Service</a:t>
            </a:r>
          </a:p>
          <a:p>
            <a:pPr marL="457200" lvl="1" indent="0">
              <a:buNone/>
            </a:pPr>
            <a:r>
              <a:rPr lang="en-US" sz="1400" dirty="0"/>
              <a:t>If services were stopped earlier:</a:t>
            </a:r>
          </a:p>
          <a:p>
            <a:pPr marL="914400" lvl="2" indent="0">
              <a:buNone/>
            </a:pPr>
            <a:r>
              <a:rPr lang="en-US" sz="1400" b="1" dirty="0"/>
              <a:t>Step 1:</a:t>
            </a:r>
          </a:p>
          <a:p>
            <a:pPr marL="1371600" lvl="3" indent="0">
              <a:buNone/>
            </a:pPr>
            <a:r>
              <a:rPr lang="en-US" sz="1000" dirty="0"/>
              <a:t>Clear status files (TSM status) so old sessions don’t block startup.</a:t>
            </a:r>
          </a:p>
          <a:p>
            <a:pPr marL="914400" lvl="2" indent="0">
              <a:buNone/>
            </a:pPr>
            <a:r>
              <a:rPr lang="en-US" sz="1400" b="1" dirty="0"/>
              <a:t>Step 2:</a:t>
            </a:r>
          </a:p>
          <a:p>
            <a:pPr marL="1371600" lvl="3" indent="0">
              <a:buNone/>
            </a:pPr>
            <a:r>
              <a:rPr lang="en-US" sz="1000" dirty="0"/>
              <a:t>In T24 records:</a:t>
            </a:r>
          </a:p>
          <a:p>
            <a:pPr marL="1371600" lvl="3" indent="0">
              <a:buNone/>
            </a:pPr>
            <a:r>
              <a:rPr lang="en-US" sz="1000" dirty="0"/>
              <a:t>Set:</a:t>
            </a:r>
          </a:p>
          <a:p>
            <a:pPr marL="1828800" lvl="4" indent="0">
              <a:buNone/>
            </a:pPr>
            <a:r>
              <a:rPr lang="en-US" sz="1000" dirty="0"/>
              <a:t>JBL RUN SERVICE = AUTO </a:t>
            </a:r>
          </a:p>
          <a:p>
            <a:pPr marL="1828800" lvl="4" indent="0">
              <a:buNone/>
            </a:pPr>
            <a:r>
              <a:rPr lang="en-US" sz="1000" dirty="0"/>
              <a:t>TSM = START </a:t>
            </a:r>
          </a:p>
          <a:p>
            <a:pPr marL="914400" lvl="2" indent="0">
              <a:buNone/>
            </a:pPr>
            <a:r>
              <a:rPr lang="en-US" sz="1400" b="1" dirty="0"/>
              <a:t>Step 3:</a:t>
            </a:r>
          </a:p>
          <a:p>
            <a:pPr marL="1371600" lvl="3" indent="0">
              <a:buNone/>
            </a:pPr>
            <a:r>
              <a:rPr lang="en-US" sz="1000" dirty="0"/>
              <a:t>Authorize records</a:t>
            </a:r>
          </a:p>
          <a:p>
            <a:pPr marL="914400" lvl="2" indent="0">
              <a:buNone/>
            </a:pPr>
            <a:r>
              <a:rPr lang="en-US" sz="1400" b="1" dirty="0"/>
              <a:t>Step 4:</a:t>
            </a:r>
          </a:p>
          <a:p>
            <a:pPr marL="1371600" lvl="3" indent="0">
              <a:buNone/>
            </a:pPr>
            <a:r>
              <a:rPr lang="en-US" sz="1000" dirty="0"/>
              <a:t>Run start command</a:t>
            </a:r>
          </a:p>
          <a:p>
            <a:pPr marL="1371600" lvl="3" indent="0">
              <a:buNone/>
            </a:pPr>
            <a:r>
              <a:rPr lang="en-US" sz="1000" dirty="0"/>
              <a:t>Meaning services begin running in background.</a:t>
            </a:r>
          </a:p>
          <a:p>
            <a:pPr algn="l"/>
            <a:endParaRPr lang="en-US" dirty="0"/>
          </a:p>
        </p:txBody>
      </p:sp>
    </p:spTree>
    <p:extLst>
      <p:ext uri="{BB962C8B-B14F-4D97-AF65-F5344CB8AC3E}">
        <p14:creationId xmlns:p14="http://schemas.microsoft.com/office/powerpoint/2010/main" val="2320768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BA70E-0419-DC9C-747A-937B4579492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9E9EBF0-35BC-23CC-6B99-075168B98F0D}"/>
              </a:ext>
            </a:extLst>
          </p:cNvPr>
          <p:cNvSpPr>
            <a:spLocks noGrp="1"/>
          </p:cNvSpPr>
          <p:nvPr>
            <p:ph type="body" sz="quarter" idx="15"/>
          </p:nvPr>
        </p:nvSpPr>
        <p:spPr>
          <a:xfrm>
            <a:off x="651483" y="414142"/>
            <a:ext cx="5297903" cy="1796623"/>
          </a:xfrm>
        </p:spPr>
        <p:txBody>
          <a:bodyPr>
            <a:noAutofit/>
          </a:bodyPr>
          <a:lstStyle/>
          <a:p>
            <a:pPr algn="l"/>
            <a:r>
              <a:rPr lang="en-US" b="1" dirty="0"/>
              <a:t>E. Stopping the Service</a:t>
            </a:r>
          </a:p>
          <a:p>
            <a:pPr marL="457200" lvl="1" indent="0">
              <a:buNone/>
            </a:pPr>
            <a:r>
              <a:rPr lang="en-US" sz="1400" dirty="0"/>
              <a:t>Go to service control screen and set:</a:t>
            </a:r>
          </a:p>
          <a:p>
            <a:pPr marL="457200" lvl="1" indent="0">
              <a:buNone/>
            </a:pPr>
            <a:r>
              <a:rPr lang="en-US" sz="1400" b="1" dirty="0"/>
              <a:t>STOP</a:t>
            </a:r>
            <a:endParaRPr lang="en-US" sz="1400" dirty="0"/>
          </a:p>
          <a:p>
            <a:pPr marL="457200" lvl="1" indent="0">
              <a:buNone/>
            </a:pPr>
            <a:r>
              <a:rPr lang="en-US" sz="1400" dirty="0"/>
              <a:t>Then authorize.</a:t>
            </a:r>
          </a:p>
          <a:p>
            <a:pPr marL="457200" lvl="1" indent="0">
              <a:buNone/>
            </a:pPr>
            <a:r>
              <a:rPr lang="en-US" sz="1400" dirty="0"/>
              <a:t>Meaning </a:t>
            </a:r>
            <a:r>
              <a:rPr lang="en-US" sz="1400" dirty="0" err="1"/>
              <a:t>jBLoader</a:t>
            </a:r>
            <a:r>
              <a:rPr lang="en-US" sz="1400" dirty="0"/>
              <a:t> background processing stops safely.</a:t>
            </a:r>
          </a:p>
        </p:txBody>
      </p:sp>
      <p:sp>
        <p:nvSpPr>
          <p:cNvPr id="6" name="Text Placeholder 5">
            <a:extLst>
              <a:ext uri="{FF2B5EF4-FFF2-40B4-BE49-F238E27FC236}">
                <a16:creationId xmlns:a16="http://schemas.microsoft.com/office/drawing/2014/main" id="{7109AD52-B269-EDBA-F5A2-002818EF32D2}"/>
              </a:ext>
            </a:extLst>
          </p:cNvPr>
          <p:cNvSpPr>
            <a:spLocks noGrp="1"/>
          </p:cNvSpPr>
          <p:nvPr>
            <p:ph type="body" sz="quarter" idx="17"/>
          </p:nvPr>
        </p:nvSpPr>
        <p:spPr>
          <a:xfrm>
            <a:off x="651484" y="2300814"/>
            <a:ext cx="5402631" cy="3451803"/>
          </a:xfrm>
        </p:spPr>
        <p:txBody>
          <a:bodyPr>
            <a:noAutofit/>
          </a:bodyPr>
          <a:lstStyle/>
          <a:p>
            <a:pPr algn="l"/>
            <a:r>
              <a:rPr lang="en-US" b="1" dirty="0"/>
              <a:t>F. How Processing Works Internally</a:t>
            </a:r>
          </a:p>
          <a:p>
            <a:pPr marL="457200" lvl="1" indent="0">
              <a:buNone/>
            </a:pPr>
            <a:r>
              <a:rPr lang="en-US" sz="1400" b="1" dirty="0"/>
              <a:t>ELRUNSERVICE</a:t>
            </a:r>
          </a:p>
          <a:p>
            <a:pPr marL="457200" lvl="1" indent="0">
              <a:buNone/>
            </a:pPr>
            <a:r>
              <a:rPr lang="en-US" sz="1400" dirty="0"/>
              <a:t>This is a control service.</a:t>
            </a:r>
          </a:p>
          <a:p>
            <a:pPr marL="457200" lvl="1" indent="0">
              <a:buNone/>
            </a:pPr>
            <a:r>
              <a:rPr lang="en-US" sz="1400" dirty="0"/>
              <a:t>Its job:</a:t>
            </a:r>
          </a:p>
          <a:p>
            <a:pPr marL="914400" lvl="2" indent="0">
              <a:buNone/>
            </a:pPr>
            <a:r>
              <a:rPr lang="en-US" sz="1000" dirty="0"/>
              <a:t>Detect restart requests from GUI </a:t>
            </a:r>
          </a:p>
          <a:p>
            <a:pPr marL="914400" lvl="2" indent="0">
              <a:buNone/>
            </a:pPr>
            <a:r>
              <a:rPr lang="en-US" sz="1000" dirty="0"/>
              <a:t>Trigger extractor services </a:t>
            </a:r>
          </a:p>
          <a:p>
            <a:pPr marL="457200" lvl="1" indent="0">
              <a:buNone/>
            </a:pPr>
            <a:r>
              <a:rPr lang="en-US" sz="1400" b="1" dirty="0"/>
              <a:t>JBLEXTRACTORX</a:t>
            </a:r>
          </a:p>
          <a:p>
            <a:pPr marL="914400" lvl="2" indent="0">
              <a:buNone/>
            </a:pPr>
            <a:r>
              <a:rPr lang="en-US" sz="1000" dirty="0"/>
              <a:t>Actual extraction workers.</a:t>
            </a:r>
          </a:p>
          <a:p>
            <a:pPr marL="914400" lvl="2" indent="0">
              <a:buNone/>
            </a:pPr>
            <a:r>
              <a:rPr lang="en-US" sz="1000" dirty="0"/>
              <a:t>(X = service number like 1,2,3...)</a:t>
            </a:r>
          </a:p>
          <a:p>
            <a:pPr marL="914400" lvl="2" indent="0">
              <a:buNone/>
            </a:pPr>
            <a:r>
              <a:rPr lang="en-US" sz="1000" dirty="0"/>
              <a:t>They perform real data extraction.</a:t>
            </a:r>
          </a:p>
          <a:p>
            <a:pPr marL="457200" lvl="1" indent="0">
              <a:buNone/>
            </a:pPr>
            <a:r>
              <a:rPr lang="en-US" sz="1400" b="1" dirty="0"/>
              <a:t>Maximum Number of Services:</a:t>
            </a:r>
          </a:p>
          <a:p>
            <a:pPr marL="914400" lvl="2" indent="0">
              <a:buNone/>
            </a:pPr>
            <a:r>
              <a:rPr lang="en-US" sz="1000" dirty="0"/>
              <a:t>Up to </a:t>
            </a:r>
            <a:r>
              <a:rPr lang="en-US" sz="1000" b="1" dirty="0"/>
              <a:t>6 parallel services</a:t>
            </a:r>
            <a:endParaRPr lang="en-US" sz="1000" dirty="0"/>
          </a:p>
          <a:p>
            <a:pPr marL="914400" lvl="2" indent="0">
              <a:buNone/>
            </a:pPr>
            <a:r>
              <a:rPr lang="en-US" sz="1000" dirty="0"/>
              <a:t>Configured in:</a:t>
            </a:r>
          </a:p>
          <a:p>
            <a:pPr marL="1371600" lvl="3" indent="0">
              <a:buNone/>
            </a:pPr>
            <a:r>
              <a:rPr lang="en-US" sz="800" b="1" dirty="0"/>
              <a:t>JBLOADER PARAMETER → MAX SERVICE NUMBER</a:t>
            </a:r>
            <a:endParaRPr lang="en-US" sz="800" dirty="0"/>
          </a:p>
          <a:p>
            <a:pPr algn="l"/>
            <a:endParaRPr lang="en-US" dirty="0"/>
          </a:p>
        </p:txBody>
      </p:sp>
      <p:sp>
        <p:nvSpPr>
          <p:cNvPr id="82" name="Slide Number Placeholder 81">
            <a:extLst>
              <a:ext uri="{FF2B5EF4-FFF2-40B4-BE49-F238E27FC236}">
                <a16:creationId xmlns:a16="http://schemas.microsoft.com/office/drawing/2014/main" id="{543DD4DE-8920-42BD-EDD5-9CF10B2B0EAC}"/>
              </a:ext>
            </a:extLst>
          </p:cNvPr>
          <p:cNvSpPr>
            <a:spLocks noGrp="1"/>
          </p:cNvSpPr>
          <p:nvPr>
            <p:ph type="sldNum" sz="quarter" idx="22"/>
          </p:nvPr>
        </p:nvSpPr>
        <p:spPr>
          <a:xfrm>
            <a:off x="8610600" y="6356350"/>
            <a:ext cx="2743200" cy="365125"/>
          </a:xfrm>
        </p:spPr>
        <p:txBody>
          <a:bodyPr/>
          <a:lstStyle/>
          <a:p>
            <a:pPr algn="l"/>
            <a:fld id="{B5CEABB6-07DC-46E8-9B57-56EC44A396E5}" type="slidenum">
              <a:rPr lang="en-US" sz="1400" smtClean="0"/>
              <a:pPr algn="l"/>
              <a:t>31</a:t>
            </a:fld>
            <a:endParaRPr lang="en-US" sz="1400" dirty="0"/>
          </a:p>
        </p:txBody>
      </p:sp>
      <p:sp>
        <p:nvSpPr>
          <p:cNvPr id="2" name="Text Placeholder 3">
            <a:extLst>
              <a:ext uri="{FF2B5EF4-FFF2-40B4-BE49-F238E27FC236}">
                <a16:creationId xmlns:a16="http://schemas.microsoft.com/office/drawing/2014/main" id="{D3882C01-0E6F-364D-BD60-69C42CC8B44A}"/>
              </a:ext>
            </a:extLst>
          </p:cNvPr>
          <p:cNvSpPr txBox="1">
            <a:spLocks/>
          </p:cNvSpPr>
          <p:nvPr/>
        </p:nvSpPr>
        <p:spPr>
          <a:xfrm>
            <a:off x="651484" y="2922608"/>
            <a:ext cx="5297903" cy="3752744"/>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dirty="0"/>
          </a:p>
        </p:txBody>
      </p:sp>
      <p:sp>
        <p:nvSpPr>
          <p:cNvPr id="3" name="Text Placeholder 3">
            <a:extLst>
              <a:ext uri="{FF2B5EF4-FFF2-40B4-BE49-F238E27FC236}">
                <a16:creationId xmlns:a16="http://schemas.microsoft.com/office/drawing/2014/main" id="{B3C2E55D-5167-6B54-856F-AE71475F6EE5}"/>
              </a:ext>
            </a:extLst>
          </p:cNvPr>
          <p:cNvSpPr txBox="1">
            <a:spLocks/>
          </p:cNvSpPr>
          <p:nvPr/>
        </p:nvSpPr>
        <p:spPr>
          <a:xfrm>
            <a:off x="6242613" y="414142"/>
            <a:ext cx="5297903" cy="1912933"/>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G. After Extraction Completes</a:t>
            </a:r>
          </a:p>
          <a:p>
            <a:pPr marL="457200" lvl="1" indent="0">
              <a:buNone/>
            </a:pPr>
            <a:r>
              <a:rPr lang="en-US" sz="1400" dirty="0"/>
              <a:t>When extraction finishes:</a:t>
            </a:r>
          </a:p>
          <a:p>
            <a:pPr marL="914400" lvl="2" indent="0">
              <a:buNone/>
            </a:pPr>
            <a:r>
              <a:rPr lang="en-US" sz="1000" dirty="0"/>
              <a:t>Output files are created </a:t>
            </a:r>
          </a:p>
          <a:p>
            <a:pPr marL="914400" lvl="2" indent="0">
              <a:buNone/>
            </a:pPr>
            <a:r>
              <a:rPr lang="en-US" sz="1000" dirty="0"/>
              <a:t>Files are transferred back to GUI </a:t>
            </a:r>
          </a:p>
          <a:p>
            <a:pPr marL="914400" lvl="2" indent="0">
              <a:buNone/>
            </a:pPr>
            <a:r>
              <a:rPr lang="en-US" sz="1000" dirty="0"/>
              <a:t>GUI loads them into target system/database </a:t>
            </a:r>
          </a:p>
        </p:txBody>
      </p:sp>
      <p:sp>
        <p:nvSpPr>
          <p:cNvPr id="5" name="Text Placeholder 3">
            <a:extLst>
              <a:ext uri="{FF2B5EF4-FFF2-40B4-BE49-F238E27FC236}">
                <a16:creationId xmlns:a16="http://schemas.microsoft.com/office/drawing/2014/main" id="{04806570-EF99-488E-7C04-095C495BE6D5}"/>
              </a:ext>
            </a:extLst>
          </p:cNvPr>
          <p:cNvSpPr txBox="1">
            <a:spLocks/>
          </p:cNvSpPr>
          <p:nvPr/>
        </p:nvSpPr>
        <p:spPr>
          <a:xfrm>
            <a:off x="6096000" y="2300814"/>
            <a:ext cx="5297903" cy="2590881"/>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b="1" dirty="0"/>
              <a:t>H. Troubleshooting Section</a:t>
            </a:r>
          </a:p>
          <a:p>
            <a:pPr marL="457200" lvl="1" indent="0">
              <a:buNone/>
            </a:pPr>
            <a:r>
              <a:rPr lang="en-US" sz="1400" b="1" dirty="0"/>
              <a:t>If Issue Happens from T24 Side:</a:t>
            </a:r>
          </a:p>
          <a:p>
            <a:pPr marL="914400" lvl="2" indent="0">
              <a:buNone/>
            </a:pPr>
            <a:r>
              <a:rPr lang="en-US" sz="1000" dirty="0"/>
              <a:t>Check </a:t>
            </a:r>
            <a:r>
              <a:rPr lang="en-US" sz="1000" b="1" dirty="0"/>
              <a:t>JBLEXTRACTORX</a:t>
            </a:r>
            <a:r>
              <a:rPr lang="en-US" sz="1000" dirty="0"/>
              <a:t> services.</a:t>
            </a:r>
          </a:p>
          <a:p>
            <a:pPr marL="457200" lvl="1" indent="0">
              <a:buNone/>
            </a:pPr>
            <a:r>
              <a:rPr lang="en-US" sz="1400" dirty="0"/>
              <a:t>These services handle two stages:</a:t>
            </a:r>
          </a:p>
          <a:p>
            <a:pPr marL="914400" lvl="2" indent="0">
              <a:buNone/>
            </a:pPr>
            <a:r>
              <a:rPr lang="en-US" sz="1000" b="1" dirty="0"/>
              <a:t>1. Extraction</a:t>
            </a:r>
          </a:p>
          <a:p>
            <a:pPr marL="1371600" lvl="3" indent="0">
              <a:buNone/>
            </a:pPr>
            <a:r>
              <a:rPr lang="en-US" sz="800" dirty="0"/>
              <a:t>Reads data.</a:t>
            </a:r>
          </a:p>
          <a:p>
            <a:pPr marL="914400" lvl="2" indent="0">
              <a:buNone/>
            </a:pPr>
            <a:r>
              <a:rPr lang="en-US" sz="1000" b="1" dirty="0"/>
              <a:t>2. Cleanup</a:t>
            </a:r>
          </a:p>
          <a:p>
            <a:pPr marL="1371600" lvl="3" indent="0">
              <a:buNone/>
            </a:pPr>
            <a:r>
              <a:rPr lang="en-US" sz="800" dirty="0"/>
              <a:t>Clears temp files </a:t>
            </a:r>
          </a:p>
          <a:p>
            <a:pPr marL="1371600" lvl="3" indent="0">
              <a:buNone/>
            </a:pPr>
            <a:r>
              <a:rPr lang="en-US" sz="800" dirty="0"/>
              <a:t>Creates ZIP file (if needed)</a:t>
            </a:r>
          </a:p>
        </p:txBody>
      </p:sp>
    </p:spTree>
    <p:extLst>
      <p:ext uri="{BB962C8B-B14F-4D97-AF65-F5344CB8AC3E}">
        <p14:creationId xmlns:p14="http://schemas.microsoft.com/office/powerpoint/2010/main" val="4030347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2576435"/>
            <a:ext cx="6867646" cy="1524735"/>
          </a:xfrm>
        </p:spPr>
        <p:txBody>
          <a:bodyPr/>
          <a:lstStyle/>
          <a:p>
            <a:r>
              <a:rPr lang="en-US" sz="6000" dirty="0"/>
              <a:t>THANK YOU</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32</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f1e79fc-1f4d-4187-a67d-c1c5354c13f8}" enabled="1" method="Privilege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emplate>{91462881-29FB-4F61-B8F8-4F1F7EDD8E03}TF1ed81438-95a7-4ae9-841d-43ea2c64f7fc8ae7ff09_win32-aa52a5bb69e3</Template>
  <TotalTime>311</TotalTime>
  <Words>2381</Words>
  <Application>Microsoft Office PowerPoint</Application>
  <PresentationFormat>Widescreen</PresentationFormat>
  <Paragraphs>375</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Calibri</vt:lpstr>
      <vt:lpstr>Google Sans</vt:lpstr>
      <vt:lpstr>Tenorite</vt:lpstr>
      <vt:lpstr>Monoline</vt:lpstr>
      <vt:lpstr>jBLoader Overview</vt:lpstr>
      <vt:lpstr>What Is jBLoader?</vt:lpstr>
      <vt:lpstr>What data is inside T24 database?</vt:lpstr>
      <vt:lpstr>COMPANY OVERVIEW</vt:lpstr>
      <vt:lpstr>What is happening through an extraction process </vt:lpstr>
      <vt:lpstr>Home screen</vt:lpstr>
      <vt:lpstr>scheduler (task) status summary</vt:lpstr>
      <vt:lpstr>administration</vt:lpstr>
      <vt:lpstr>User Profile</vt:lpstr>
      <vt:lpstr>Role Maintenance</vt:lpstr>
      <vt:lpstr>Parameter Configuration</vt:lpstr>
      <vt:lpstr>Configurations</vt:lpstr>
      <vt:lpstr>PowerPoint Presentation</vt:lpstr>
      <vt:lpstr>PowerPoint Presentation</vt:lpstr>
      <vt:lpstr>PowerPoint Presentation</vt:lpstr>
      <vt:lpstr>MIGRATION</vt:lpstr>
      <vt:lpstr>PowerPoint Presentation</vt:lpstr>
      <vt:lpstr>PowerPoint Presentation</vt:lpstr>
      <vt:lpstr>Metadata</vt:lpstr>
      <vt:lpstr>PowerPoint Presentation</vt:lpstr>
      <vt:lpstr>PowerPoint Presentation</vt:lpstr>
      <vt:lpstr>Scheduler</vt:lpstr>
      <vt:lpstr>PowerPoint Presentation</vt:lpstr>
      <vt:lpstr>PowerPoint Presentation</vt:lpstr>
      <vt:lpstr>REPORTS &amp; STATISTICS</vt:lpstr>
      <vt:lpstr>1.REPORTS</vt:lpstr>
      <vt:lpstr>2.Logs and Statistics</vt:lpstr>
      <vt:lpstr>3.Audit Information</vt:lpstr>
      <vt:lpstr>TECHNICAL INFORMATION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Menna Kamal | Ejada Systems</dc:creator>
  <cp:lastModifiedBy>Menna Kamal | Ejada Systems</cp:lastModifiedBy>
  <cp:revision>3</cp:revision>
  <dcterms:created xsi:type="dcterms:W3CDTF">2026-04-26T08:23:51Z</dcterms:created>
  <dcterms:modified xsi:type="dcterms:W3CDTF">2026-04-27T13:03:36Z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ClassificationContentMarkingFooterLocations">
    <vt:lpwstr>Monoline:8</vt:lpwstr>
  </property>
  <property fmtid="{D5CDD505-2E9C-101B-9397-08002B2CF9AE}" pid="4" name="ClassificationContentMarkingFooterText">
    <vt:lpwstr>Ejada Internal Use Information</vt:lpwstr>
  </property>
</Properties>
</file>